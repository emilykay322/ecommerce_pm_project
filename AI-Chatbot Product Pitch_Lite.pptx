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87" r:id="rId2"/>
    <p:sldId id="257" r:id="rId3"/>
    <p:sldId id="258" r:id="rId4"/>
    <p:sldId id="259" r:id="rId5"/>
    <p:sldId id="283" r:id="rId6"/>
    <p:sldId id="286" r:id="rId7"/>
    <p:sldId id="263" r:id="rId8"/>
    <p:sldId id="284" r:id="rId9"/>
    <p:sldId id="265" r:id="rId10"/>
    <p:sldId id="280" r:id="rId11"/>
    <p:sldId id="281" r:id="rId12"/>
    <p:sldId id="285" r:id="rId13"/>
    <p:sldId id="288" r:id="rId14"/>
  </p:sldIdLst>
  <p:sldSz cx="18288000" cy="10287000"/>
  <p:notesSz cx="6858000" cy="9144000"/>
  <p:embeddedFontLst>
    <p:embeddedFont>
      <p:font typeface="Agrandir" panose="020B0604020202020204" charset="0"/>
      <p:regular r:id="rId15"/>
    </p:embeddedFont>
    <p:embeddedFont>
      <p:font typeface="Agrandir Medium" panose="020B0604020202020204" charset="0"/>
      <p:regular r:id="rId16"/>
    </p:embeddedFont>
    <p:embeddedFont>
      <p:font typeface="Rubik" panose="020B0604020202020204" charset="-79"/>
      <p:regular r:id="rId17"/>
    </p:embeddedFont>
    <p:embeddedFont>
      <p:font typeface="Rubik Bold" panose="020B0604020202020204" charset="-79"/>
      <p:regular r:id="rId18"/>
    </p:embeddedFont>
    <p:embeddedFont>
      <p:font typeface="Rubik Light" panose="020B0604020202020204" charset="-79"/>
      <p:regular r:id="rId19"/>
    </p:embeddedFont>
    <p:embeddedFont>
      <p:font typeface="Rubik Medium" panose="020B0604020202020204" charset="-79"/>
      <p:regular r:id="rId20"/>
    </p:embeddedFont>
    <p:embeddedFont>
      <p:font typeface="Rubik Semi-Bold" panose="020B0604020202020204" charset="-79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93F7"/>
    <a:srgbClr val="0D052E"/>
    <a:srgbClr val="15084C"/>
    <a:srgbClr val="D5E1EF"/>
    <a:srgbClr val="2815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622" autoAdjust="0"/>
  </p:normalViewPr>
  <p:slideViewPr>
    <p:cSldViewPr>
      <p:cViewPr>
        <p:scale>
          <a:sx n="46" d="100"/>
          <a:sy n="46" d="100"/>
        </p:scale>
        <p:origin x="398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jpe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jpeg"/><Relationship Id="rId9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emilykay322/eCommerce_PM_Project/blob/407df7146c9c839c2b807f12c2f9a70770b00836/Demo_final.ex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E24763-7622-D111-9D8B-7652353BF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8C4ED25A-7F95-1811-65D5-119CB1CBDE62}"/>
              </a:ext>
            </a:extLst>
          </p:cNvPr>
          <p:cNvGrpSpPr/>
          <p:nvPr/>
        </p:nvGrpSpPr>
        <p:grpSpPr>
          <a:xfrm>
            <a:off x="11702390" y="0"/>
            <a:ext cx="6585610" cy="10287000"/>
            <a:chOff x="0" y="0"/>
            <a:chExt cx="1020283" cy="159372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D94FF1E-6869-2CE0-2969-4B30A15ECF09}"/>
                </a:ext>
              </a:extLst>
            </p:cNvPr>
            <p:cNvSpPr/>
            <p:nvPr/>
          </p:nvSpPr>
          <p:spPr>
            <a:xfrm>
              <a:off x="0" y="0"/>
              <a:ext cx="1020283" cy="1593725"/>
            </a:xfrm>
            <a:custGeom>
              <a:avLst/>
              <a:gdLst/>
              <a:ahLst/>
              <a:cxnLst/>
              <a:rect l="l" t="t" r="r" b="b"/>
              <a:pathLst>
                <a:path w="1020283" h="1593725">
                  <a:moveTo>
                    <a:pt x="0" y="0"/>
                  </a:moveTo>
                  <a:lnTo>
                    <a:pt x="1020283" y="0"/>
                  </a:lnTo>
                  <a:lnTo>
                    <a:pt x="102028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035" r="-203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7F93D536-E5D2-7425-FC93-53AEEFE2FF90}"/>
              </a:ext>
            </a:extLst>
          </p:cNvPr>
          <p:cNvSpPr txBox="1"/>
          <p:nvPr/>
        </p:nvSpPr>
        <p:spPr>
          <a:xfrm>
            <a:off x="1203172" y="2208070"/>
            <a:ext cx="10912628" cy="2257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774"/>
              </a:lnSpc>
            </a:pPr>
            <a:r>
              <a:rPr lang="en-US" sz="8000" b="1" dirty="0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Turning Service into a Growth Engine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37719D8-4580-DF8B-2D78-6C8016E84B17}"/>
              </a:ext>
            </a:extLst>
          </p:cNvPr>
          <p:cNvSpPr txBox="1"/>
          <p:nvPr/>
        </p:nvSpPr>
        <p:spPr>
          <a:xfrm>
            <a:off x="1311523" y="1215082"/>
            <a:ext cx="2817031" cy="39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sz="3000">
                <a:solidFill>
                  <a:srgbClr val="FFFFFF"/>
                </a:solidFill>
                <a:latin typeface="Rubik Light"/>
                <a:ea typeface="Rubik Light"/>
                <a:cs typeface="Rubik Light"/>
                <a:sym typeface="Rubik Light"/>
              </a:rPr>
              <a:t>Emily Schmidt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C1F14C2-365C-19F0-9DCF-A1D401E67B41}"/>
              </a:ext>
            </a:extLst>
          </p:cNvPr>
          <p:cNvSpPr txBox="1"/>
          <p:nvPr/>
        </p:nvSpPr>
        <p:spPr>
          <a:xfrm>
            <a:off x="1203172" y="4880175"/>
            <a:ext cx="9922260" cy="107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6"/>
              </a:lnSpc>
            </a:pPr>
            <a:r>
              <a:rPr lang="en-US" sz="3400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Leveraging AI-driven mobile support to enhance customer experience and reduce churn at scale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31CF7E6-76A5-48AE-474A-D5E17DD1AD5C}"/>
              </a:ext>
            </a:extLst>
          </p:cNvPr>
          <p:cNvSpPr txBox="1"/>
          <p:nvPr/>
        </p:nvSpPr>
        <p:spPr>
          <a:xfrm>
            <a:off x="1311523" y="8366184"/>
            <a:ext cx="5343020" cy="43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0"/>
              </a:lnSpc>
            </a:pPr>
            <a:r>
              <a:rPr lang="en-US" sz="3000" dirty="0">
                <a:solidFill>
                  <a:srgbClr val="FFFFFF"/>
                </a:solidFill>
                <a:latin typeface="Rubik Light"/>
                <a:ea typeface="Rubik Light"/>
                <a:cs typeface="Rubik Light"/>
                <a:sym typeface="Rubik Light"/>
              </a:rPr>
              <a:t>Product Management Project</a:t>
            </a:r>
          </a:p>
        </p:txBody>
      </p:sp>
    </p:spTree>
    <p:extLst>
      <p:ext uri="{BB962C8B-B14F-4D97-AF65-F5344CB8AC3E}">
        <p14:creationId xmlns:p14="http://schemas.microsoft.com/office/powerpoint/2010/main" val="230787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0041002" y="2327262"/>
            <a:ext cx="3517067" cy="3380931"/>
            <a:chOff x="0" y="0"/>
            <a:chExt cx="544886" cy="5237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44886" cy="523795"/>
            </a:xfrm>
            <a:custGeom>
              <a:avLst/>
              <a:gdLst/>
              <a:ahLst/>
              <a:cxnLst/>
              <a:rect l="l" t="t" r="r" b="b"/>
              <a:pathLst>
                <a:path w="544886" h="523795">
                  <a:moveTo>
                    <a:pt x="0" y="0"/>
                  </a:moveTo>
                  <a:lnTo>
                    <a:pt x="544886" y="0"/>
                  </a:lnTo>
                  <a:lnTo>
                    <a:pt x="544886" y="523795"/>
                  </a:lnTo>
                  <a:lnTo>
                    <a:pt x="0" y="523795"/>
                  </a:lnTo>
                  <a:close/>
                </a:path>
              </a:pathLst>
            </a:custGeom>
            <a:blipFill>
              <a:blip r:embed="rId2"/>
              <a:stretch>
                <a:fillRect l="-22142" r="-2214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742233" y="2327262"/>
            <a:ext cx="3517067" cy="3380931"/>
            <a:chOff x="0" y="0"/>
            <a:chExt cx="544886" cy="52379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4886" cy="523795"/>
            </a:xfrm>
            <a:custGeom>
              <a:avLst/>
              <a:gdLst/>
              <a:ahLst/>
              <a:cxnLst/>
              <a:rect l="l" t="t" r="r" b="b"/>
              <a:pathLst>
                <a:path w="544886" h="523795">
                  <a:moveTo>
                    <a:pt x="0" y="0"/>
                  </a:moveTo>
                  <a:lnTo>
                    <a:pt x="544886" y="0"/>
                  </a:lnTo>
                  <a:lnTo>
                    <a:pt x="544886" y="523795"/>
                  </a:lnTo>
                  <a:lnTo>
                    <a:pt x="0" y="523795"/>
                  </a:lnTo>
                  <a:close/>
                </a:path>
              </a:pathLst>
            </a:custGeom>
            <a:blipFill>
              <a:blip r:embed="rId3"/>
              <a:stretch>
                <a:fillRect l="-22031" r="-2203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041002" y="5877369"/>
            <a:ext cx="7218298" cy="3380931"/>
            <a:chOff x="0" y="0"/>
            <a:chExt cx="1118303" cy="52379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18303" cy="523795"/>
            </a:xfrm>
            <a:custGeom>
              <a:avLst/>
              <a:gdLst/>
              <a:ahLst/>
              <a:cxnLst/>
              <a:rect l="l" t="t" r="r" b="b"/>
              <a:pathLst>
                <a:path w="1118303" h="523795">
                  <a:moveTo>
                    <a:pt x="0" y="0"/>
                  </a:moveTo>
                  <a:lnTo>
                    <a:pt x="1118303" y="0"/>
                  </a:lnTo>
                  <a:lnTo>
                    <a:pt x="1118303" y="523795"/>
                  </a:lnTo>
                  <a:lnTo>
                    <a:pt x="0" y="523795"/>
                  </a:lnTo>
                  <a:close/>
                </a:path>
              </a:pathLst>
            </a:custGeom>
            <a:blipFill>
              <a:blip r:embed="rId4"/>
              <a:stretch>
                <a:fillRect t="-9974" b="-997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 rot="-5373146">
            <a:off x="10046328" y="2214735"/>
            <a:ext cx="3517389" cy="3531858"/>
          </a:xfrm>
          <a:custGeom>
            <a:avLst/>
            <a:gdLst/>
            <a:ahLst/>
            <a:cxnLst/>
            <a:rect l="l" t="t" r="r" b="b"/>
            <a:pathLst>
              <a:path w="3517389" h="3517389">
                <a:moveTo>
                  <a:pt x="0" y="0"/>
                </a:moveTo>
                <a:lnTo>
                  <a:pt x="3517389" y="0"/>
                </a:lnTo>
                <a:lnTo>
                  <a:pt x="3517389" y="3517389"/>
                </a:lnTo>
                <a:lnTo>
                  <a:pt x="0" y="35173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5373146">
            <a:off x="13742072" y="2222026"/>
            <a:ext cx="3517389" cy="3517389"/>
          </a:xfrm>
          <a:custGeom>
            <a:avLst/>
            <a:gdLst/>
            <a:ahLst/>
            <a:cxnLst/>
            <a:rect l="l" t="t" r="r" b="b"/>
            <a:pathLst>
              <a:path w="3517389" h="3517389">
                <a:moveTo>
                  <a:pt x="0" y="0"/>
                </a:moveTo>
                <a:lnTo>
                  <a:pt x="3517389" y="0"/>
                </a:lnTo>
                <a:lnTo>
                  <a:pt x="3517389" y="3517389"/>
                </a:lnTo>
                <a:lnTo>
                  <a:pt x="0" y="35173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0041002" y="6976830"/>
            <a:ext cx="7218298" cy="2410702"/>
          </a:xfrm>
          <a:custGeom>
            <a:avLst/>
            <a:gdLst/>
            <a:ahLst/>
            <a:cxnLst/>
            <a:rect l="l" t="t" r="r" b="b"/>
            <a:pathLst>
              <a:path w="7218298" h="2410702">
                <a:moveTo>
                  <a:pt x="0" y="0"/>
                </a:moveTo>
                <a:lnTo>
                  <a:pt x="7218298" y="0"/>
                </a:lnTo>
                <a:lnTo>
                  <a:pt x="7218298" y="2410702"/>
                </a:lnTo>
                <a:lnTo>
                  <a:pt x="0" y="24107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4213" b="-342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847628" y="3756324"/>
            <a:ext cx="2461190" cy="0"/>
          </a:xfrm>
          <a:prstGeom prst="line">
            <a:avLst/>
          </a:prstGeom>
          <a:ln w="666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203172" y="1854354"/>
            <a:ext cx="8837616" cy="142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Who We Are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78285" y="4648738"/>
            <a:ext cx="3042501" cy="76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499" b="1" dirty="0">
                <a:solidFill>
                  <a:srgbClr val="FFFFFF"/>
                </a:solidFill>
                <a:latin typeface="Rubik Bold"/>
                <a:ea typeface="Rubik Bold"/>
                <a:cs typeface="Rubik Bold"/>
                <a:sym typeface="Rubik Bold"/>
              </a:rPr>
              <a:t>Customer Lifetime Value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070249" y="4648738"/>
            <a:ext cx="2861036" cy="76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499" b="1">
                <a:solidFill>
                  <a:srgbClr val="FFFFFF"/>
                </a:solidFill>
                <a:latin typeface="Rubik Semi-Bold"/>
                <a:ea typeface="Rubik Semi-Bold"/>
                <a:cs typeface="Rubik Semi-Bold"/>
                <a:sym typeface="Rubik Semi-Bold"/>
              </a:rPr>
              <a:t>Repeat Engagement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220983" y="8350941"/>
            <a:ext cx="3042501" cy="38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499" b="1">
                <a:solidFill>
                  <a:srgbClr val="FFFFFF"/>
                </a:solidFill>
                <a:latin typeface="Rubik Semi-Bold"/>
                <a:ea typeface="Rubik Semi-Bold"/>
                <a:cs typeface="Rubik Semi-Bold"/>
                <a:sym typeface="Rubik Semi-Bold"/>
              </a:rPr>
              <a:t>Churn Minimization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7628" y="4087430"/>
            <a:ext cx="8120715" cy="6143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2"/>
              </a:lnSpc>
            </a:pPr>
            <a:r>
              <a:rPr lang="en-US" sz="2800">
                <a:solidFill>
                  <a:srgbClr val="FFFFFF"/>
                </a:solidFill>
                <a:latin typeface="Rubik Light"/>
                <a:ea typeface="Rubik Light"/>
                <a:cs typeface="Rubik Light"/>
                <a:sym typeface="Rubik Light"/>
              </a:rPr>
              <a:t>A global digital commerce and subscription platform combining e-commerce, embedded finance, and membership-based services — accessible via web and mobile.</a:t>
            </a:r>
          </a:p>
          <a:p>
            <a:pPr algn="l">
              <a:lnSpc>
                <a:spcPts val="3752"/>
              </a:lnSpc>
            </a:pPr>
            <a:endParaRPr lang="en-US" sz="2800">
              <a:solidFill>
                <a:srgbClr val="FFFFFF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algn="l">
              <a:lnSpc>
                <a:spcPts val="3752"/>
              </a:lnSpc>
            </a:pPr>
            <a:r>
              <a:rPr lang="en-US" sz="2800">
                <a:solidFill>
                  <a:srgbClr val="FFFFFF"/>
                </a:solidFill>
                <a:latin typeface="Rubik Light"/>
                <a:ea typeface="Rubik Light"/>
                <a:cs typeface="Rubik Light"/>
                <a:sym typeface="Rubik Light"/>
              </a:rPr>
              <a:t>Unlike traditional retailers, the platform offers proprietary credit-based purchasing (pay-over-time or stored credit), enabling higher transaction values and increased customer lifetime value.</a:t>
            </a:r>
          </a:p>
          <a:p>
            <a:pPr algn="l">
              <a:lnSpc>
                <a:spcPts val="3752"/>
              </a:lnSpc>
            </a:pPr>
            <a:endParaRPr lang="en-US" sz="2800">
              <a:solidFill>
                <a:srgbClr val="FFFFFF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algn="l">
              <a:lnSpc>
                <a:spcPts val="3752"/>
              </a:lnSpc>
            </a:pPr>
            <a:r>
              <a:rPr lang="en-US" sz="2800">
                <a:solidFill>
                  <a:srgbClr val="FFFFFF"/>
                </a:solidFill>
                <a:latin typeface="Rubik Light"/>
                <a:ea typeface="Rubik Light"/>
                <a:cs typeface="Rubik Light"/>
                <a:sym typeface="Rubik Light"/>
              </a:rPr>
              <a:t>Positioned at the intersection of retail, fintech, and subscription ecosystems.</a:t>
            </a:r>
          </a:p>
          <a:p>
            <a:pPr algn="l">
              <a:lnSpc>
                <a:spcPts val="3484"/>
              </a:lnSpc>
            </a:pPr>
            <a:endParaRPr lang="en-US" sz="2800">
              <a:solidFill>
                <a:srgbClr val="FFFFFF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4506091" y="1654581"/>
            <a:ext cx="2753209" cy="39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sz="3000">
                <a:solidFill>
                  <a:srgbClr val="FFFFFF"/>
                </a:solidFill>
                <a:latin typeface="Rubik Light"/>
                <a:ea typeface="Rubik Light"/>
                <a:cs typeface="Rubik Light"/>
                <a:sym typeface="Rubik Light"/>
              </a:rPr>
              <a:t>Strategic Pillars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rgbClr val="0D052E"/>
            </a:gs>
            <a:gs pos="28000">
              <a:srgbClr val="15084C"/>
            </a:gs>
            <a:gs pos="72000">
              <a:srgbClr val="BB93F7"/>
            </a:gs>
            <a:gs pos="100000">
              <a:srgbClr val="D5E1E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203172" y="1854354"/>
            <a:ext cx="11461016" cy="142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Customer Segments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90839" y="4014401"/>
            <a:ext cx="17106323" cy="7187055"/>
            <a:chOff x="0" y="0"/>
            <a:chExt cx="22808430" cy="9582741"/>
          </a:xfrm>
        </p:grpSpPr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1119183"/>
              <a:ext cx="4175355" cy="8463558"/>
              <a:chOff x="0" y="0"/>
              <a:chExt cx="9398000" cy="19050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401955" y="301498"/>
                <a:ext cx="8566912" cy="18446877"/>
              </a:xfrm>
              <a:custGeom>
                <a:avLst/>
                <a:gdLst/>
                <a:ahLst/>
                <a:cxnLst/>
                <a:rect l="l" t="t" r="r" b="b"/>
                <a:pathLst>
                  <a:path w="8566912" h="18446877">
                    <a:moveTo>
                      <a:pt x="7456551" y="18446877"/>
                    </a:moveTo>
                    <a:lnTo>
                      <a:pt x="1125220" y="18446877"/>
                    </a:lnTo>
                    <a:cubicBezTo>
                      <a:pt x="503809" y="18446877"/>
                      <a:pt x="0" y="17943067"/>
                      <a:pt x="0" y="17321657"/>
                    </a:cubicBezTo>
                    <a:lnTo>
                      <a:pt x="0" y="1085342"/>
                    </a:lnTo>
                    <a:cubicBezTo>
                      <a:pt x="0" y="485902"/>
                      <a:pt x="485902" y="0"/>
                      <a:pt x="1085342" y="0"/>
                    </a:cubicBezTo>
                    <a:lnTo>
                      <a:pt x="7504811" y="0"/>
                    </a:lnTo>
                    <a:cubicBezTo>
                      <a:pt x="8091424" y="0"/>
                      <a:pt x="8566912" y="475488"/>
                      <a:pt x="8566912" y="1062101"/>
                    </a:cubicBezTo>
                    <a:lnTo>
                      <a:pt x="8566912" y="17336515"/>
                    </a:lnTo>
                    <a:cubicBezTo>
                      <a:pt x="8566912" y="17949672"/>
                      <a:pt x="8069707" y="18446877"/>
                      <a:pt x="7456551" y="18446877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93377" r="-93377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0" y="0"/>
                <a:ext cx="9398000" cy="19050000"/>
              </a:xfrm>
              <a:custGeom>
                <a:avLst/>
                <a:gdLst/>
                <a:ahLst/>
                <a:cxnLst/>
                <a:rect l="l" t="t" r="r" b="b"/>
                <a:pathLst>
                  <a:path w="9398000" h="19050000">
                    <a:moveTo>
                      <a:pt x="9398000" y="19050000"/>
                    </a:moveTo>
                    <a:lnTo>
                      <a:pt x="0" y="19050000"/>
                    </a:lnTo>
                    <a:lnTo>
                      <a:pt x="0" y="0"/>
                    </a:lnTo>
                    <a:lnTo>
                      <a:pt x="9398000" y="0"/>
                    </a:lnTo>
                    <a:lnTo>
                      <a:pt x="9398000" y="1905000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42" r="-4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516060" y="2761350"/>
              <a:ext cx="3116619" cy="2097202"/>
              <a:chOff x="0" y="0"/>
              <a:chExt cx="743013" cy="49998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43013" cy="499980"/>
              </a:xfrm>
              <a:custGeom>
                <a:avLst/>
                <a:gdLst/>
                <a:ahLst/>
                <a:cxnLst/>
                <a:rect l="l" t="t" r="r" b="b"/>
                <a:pathLst>
                  <a:path w="743013" h="499980">
                    <a:moveTo>
                      <a:pt x="0" y="0"/>
                    </a:moveTo>
                    <a:lnTo>
                      <a:pt x="743013" y="0"/>
                    </a:lnTo>
                    <a:lnTo>
                      <a:pt x="743013" y="499980"/>
                    </a:lnTo>
                    <a:lnTo>
                      <a:pt x="0" y="499980"/>
                    </a:lnTo>
                    <a:close/>
                  </a:path>
                </a:pathLst>
              </a:custGeom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743013" cy="538080"/>
              </a:xfrm>
              <a:prstGeom prst="rect">
                <a:avLst/>
              </a:prstGeom>
            </p:spPr>
            <p:txBody>
              <a:bodyPr lIns="42091" tIns="42091" rIns="42091" bIns="42091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796424" y="3044898"/>
              <a:ext cx="2582508" cy="1015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7"/>
                </a:lnSpc>
              </a:pPr>
              <a:r>
                <a:rPr lang="en-US" sz="2485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Promo Bulk Buyers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7640" y="5545120"/>
              <a:ext cx="2860074" cy="13536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05"/>
                </a:lnSpc>
              </a:pPr>
              <a:r>
                <a:rPr lang="en-US" sz="1657">
                  <a:solidFill>
                    <a:srgbClr val="FFFFFF"/>
                  </a:solidFill>
                  <a:latin typeface="Rubik Light"/>
                  <a:ea typeface="Rubik Light"/>
                  <a:cs typeface="Rubik Light"/>
                  <a:sym typeface="Rubik Light"/>
                </a:rPr>
                <a:t>Bulk purchases during promos. High returns, low loyalty outside discounts.</a:t>
              </a:r>
            </a:p>
          </p:txBody>
        </p:sp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9039099" y="0"/>
              <a:ext cx="4727485" cy="9582741"/>
              <a:chOff x="0" y="0"/>
              <a:chExt cx="9398000" cy="19050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01955" y="301498"/>
                <a:ext cx="8566912" cy="18446877"/>
              </a:xfrm>
              <a:custGeom>
                <a:avLst/>
                <a:gdLst/>
                <a:ahLst/>
                <a:cxnLst/>
                <a:rect l="l" t="t" r="r" b="b"/>
                <a:pathLst>
                  <a:path w="8566912" h="18446877">
                    <a:moveTo>
                      <a:pt x="7456551" y="18446877"/>
                    </a:moveTo>
                    <a:lnTo>
                      <a:pt x="1125220" y="18446877"/>
                    </a:lnTo>
                    <a:cubicBezTo>
                      <a:pt x="503809" y="18446877"/>
                      <a:pt x="0" y="17943067"/>
                      <a:pt x="0" y="17321657"/>
                    </a:cubicBezTo>
                    <a:lnTo>
                      <a:pt x="0" y="1085342"/>
                    </a:lnTo>
                    <a:cubicBezTo>
                      <a:pt x="0" y="485902"/>
                      <a:pt x="485902" y="0"/>
                      <a:pt x="1085342" y="0"/>
                    </a:cubicBezTo>
                    <a:lnTo>
                      <a:pt x="7504811" y="0"/>
                    </a:lnTo>
                    <a:cubicBezTo>
                      <a:pt x="8091424" y="0"/>
                      <a:pt x="8566912" y="475488"/>
                      <a:pt x="8566912" y="1062101"/>
                    </a:cubicBezTo>
                    <a:lnTo>
                      <a:pt x="8566912" y="17336515"/>
                    </a:lnTo>
                    <a:cubicBezTo>
                      <a:pt x="8566912" y="17949672"/>
                      <a:pt x="8069707" y="18446877"/>
                      <a:pt x="7456551" y="18446877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21730" r="-2173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0" y="0"/>
                <a:ext cx="9398000" cy="19050000"/>
              </a:xfrm>
              <a:custGeom>
                <a:avLst/>
                <a:gdLst/>
                <a:ahLst/>
                <a:cxnLst/>
                <a:rect l="l" t="t" r="r" b="b"/>
                <a:pathLst>
                  <a:path w="9398000" h="19050000">
                    <a:moveTo>
                      <a:pt x="9398000" y="19050000"/>
                    </a:moveTo>
                    <a:lnTo>
                      <a:pt x="0" y="19050000"/>
                    </a:lnTo>
                    <a:lnTo>
                      <a:pt x="0" y="0"/>
                    </a:lnTo>
                    <a:lnTo>
                      <a:pt x="9398000" y="0"/>
                    </a:lnTo>
                    <a:lnTo>
                      <a:pt x="9398000" y="1905000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42" r="-4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9638468" y="1859320"/>
              <a:ext cx="3528747" cy="2374526"/>
              <a:chOff x="0" y="0"/>
              <a:chExt cx="743013" cy="49998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743013" cy="499980"/>
              </a:xfrm>
              <a:custGeom>
                <a:avLst/>
                <a:gdLst/>
                <a:ahLst/>
                <a:cxnLst/>
                <a:rect l="l" t="t" r="r" b="b"/>
                <a:pathLst>
                  <a:path w="743013" h="499980">
                    <a:moveTo>
                      <a:pt x="0" y="0"/>
                    </a:moveTo>
                    <a:lnTo>
                      <a:pt x="743013" y="0"/>
                    </a:lnTo>
                    <a:lnTo>
                      <a:pt x="743013" y="499980"/>
                    </a:lnTo>
                    <a:lnTo>
                      <a:pt x="0" y="499980"/>
                    </a:lnTo>
                    <a:close/>
                  </a:path>
                </a:pathLst>
              </a:custGeom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743013" cy="538080"/>
              </a:xfrm>
              <a:prstGeom prst="rect">
                <a:avLst/>
              </a:prstGeom>
            </p:spPr>
            <p:txBody>
              <a:bodyPr lIns="47657" tIns="47657" rIns="47657" bIns="47657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9940838" y="2181623"/>
              <a:ext cx="2924007" cy="17203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5"/>
                </a:lnSpc>
              </a:pPr>
              <a:r>
                <a:rPr lang="en-US" sz="2814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Engaged Super Consumers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83702" y="5012463"/>
              <a:ext cx="3238278" cy="22938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70"/>
                </a:lnSpc>
              </a:pPr>
              <a:r>
                <a:rPr lang="en-US" sz="1876">
                  <a:solidFill>
                    <a:srgbClr val="FFFFFF"/>
                  </a:solidFill>
                  <a:latin typeface="Rubik Light"/>
                  <a:ea typeface="Rubik Light"/>
                  <a:cs typeface="Rubik Light"/>
                  <a:sym typeface="Rubik Light"/>
                </a:rPr>
                <a:t>Highest CLV &amp; frequency — no discounts needed. Elevated churn signals a critical retention gap.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785076" y="467487"/>
              <a:ext cx="3238278" cy="38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70"/>
                </a:lnSpc>
              </a:pPr>
              <a:r>
                <a:rPr lang="en-US" sz="1876">
                  <a:solidFill>
                    <a:srgbClr val="FFFFFF"/>
                  </a:solidFill>
                  <a:latin typeface="Rubik Light"/>
                  <a:ea typeface="Rubik Light"/>
                  <a:cs typeface="Rubik Light"/>
                  <a:sym typeface="Rubik Light"/>
                </a:rPr>
                <a:t>Target Segment</a:t>
              </a:r>
            </a:p>
          </p:txBody>
        </p:sp>
        <p:grpSp>
          <p:nvGrpSpPr>
            <p:cNvPr id="22" name="Group 22"/>
            <p:cNvGrpSpPr>
              <a:grpSpLocks noChangeAspect="1"/>
            </p:cNvGrpSpPr>
            <p:nvPr/>
          </p:nvGrpSpPr>
          <p:grpSpPr>
            <a:xfrm>
              <a:off x="4520843" y="1119183"/>
              <a:ext cx="4175355" cy="8463558"/>
              <a:chOff x="0" y="0"/>
              <a:chExt cx="9398000" cy="19050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01955" y="301498"/>
                <a:ext cx="8566912" cy="18446877"/>
              </a:xfrm>
              <a:custGeom>
                <a:avLst/>
                <a:gdLst/>
                <a:ahLst/>
                <a:cxnLst/>
                <a:rect l="l" t="t" r="r" b="b"/>
                <a:pathLst>
                  <a:path w="8566912" h="18446877">
                    <a:moveTo>
                      <a:pt x="7456551" y="18446877"/>
                    </a:moveTo>
                    <a:lnTo>
                      <a:pt x="1125220" y="18446877"/>
                    </a:lnTo>
                    <a:cubicBezTo>
                      <a:pt x="503809" y="18446877"/>
                      <a:pt x="0" y="17943067"/>
                      <a:pt x="0" y="17321657"/>
                    </a:cubicBezTo>
                    <a:lnTo>
                      <a:pt x="0" y="1085342"/>
                    </a:lnTo>
                    <a:cubicBezTo>
                      <a:pt x="0" y="485902"/>
                      <a:pt x="485902" y="0"/>
                      <a:pt x="1085342" y="0"/>
                    </a:cubicBezTo>
                    <a:lnTo>
                      <a:pt x="7504811" y="0"/>
                    </a:lnTo>
                    <a:cubicBezTo>
                      <a:pt x="8091424" y="0"/>
                      <a:pt x="8566912" y="475488"/>
                      <a:pt x="8566912" y="1062101"/>
                    </a:cubicBezTo>
                    <a:lnTo>
                      <a:pt x="8566912" y="17336515"/>
                    </a:lnTo>
                    <a:cubicBezTo>
                      <a:pt x="8566912" y="17949672"/>
                      <a:pt x="8069707" y="18446877"/>
                      <a:pt x="7456551" y="18446877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141401" r="-141401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0" y="0"/>
                <a:ext cx="9398000" cy="19050000"/>
              </a:xfrm>
              <a:custGeom>
                <a:avLst/>
                <a:gdLst/>
                <a:ahLst/>
                <a:cxnLst/>
                <a:rect l="l" t="t" r="r" b="b"/>
                <a:pathLst>
                  <a:path w="9398000" h="19050000">
                    <a:moveTo>
                      <a:pt x="9398000" y="19050000"/>
                    </a:moveTo>
                    <a:lnTo>
                      <a:pt x="0" y="19050000"/>
                    </a:lnTo>
                    <a:lnTo>
                      <a:pt x="0" y="0"/>
                    </a:lnTo>
                    <a:lnTo>
                      <a:pt x="9398000" y="0"/>
                    </a:lnTo>
                    <a:lnTo>
                      <a:pt x="9398000" y="1905000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42" r="-4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5050212" y="2761350"/>
              <a:ext cx="3116619" cy="2097202"/>
              <a:chOff x="0" y="0"/>
              <a:chExt cx="743013" cy="49998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743013" cy="499980"/>
              </a:xfrm>
              <a:custGeom>
                <a:avLst/>
                <a:gdLst/>
                <a:ahLst/>
                <a:cxnLst/>
                <a:rect l="l" t="t" r="r" b="b"/>
                <a:pathLst>
                  <a:path w="743013" h="499980">
                    <a:moveTo>
                      <a:pt x="0" y="0"/>
                    </a:moveTo>
                    <a:lnTo>
                      <a:pt x="743013" y="0"/>
                    </a:lnTo>
                    <a:lnTo>
                      <a:pt x="743013" y="499980"/>
                    </a:lnTo>
                    <a:lnTo>
                      <a:pt x="0" y="499980"/>
                    </a:lnTo>
                    <a:close/>
                  </a:path>
                </a:pathLst>
              </a:custGeom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743013" cy="538080"/>
              </a:xfrm>
              <a:prstGeom prst="rect">
                <a:avLst/>
              </a:prstGeom>
            </p:spPr>
            <p:txBody>
              <a:bodyPr lIns="42091" tIns="42091" rIns="42091" bIns="42091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5317267" y="3044898"/>
              <a:ext cx="2582508" cy="1015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7"/>
                </a:lnSpc>
              </a:pPr>
              <a:r>
                <a:rPr lang="en-US" sz="2485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Low-Intent Browsers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178484" y="5545120"/>
              <a:ext cx="2860074" cy="13536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05"/>
                </a:lnSpc>
              </a:pPr>
              <a:r>
                <a:rPr lang="en-US" sz="1657">
                  <a:solidFill>
                    <a:srgbClr val="FFFFFF"/>
                  </a:solidFill>
                  <a:latin typeface="Rubik Light"/>
                  <a:ea typeface="Rubik Light"/>
                  <a:cs typeface="Rubik Light"/>
                  <a:sym typeface="Rubik Light"/>
                </a:rPr>
                <a:t>Browse without converting. Minimal revenue, weak purchase intent.</a:t>
              </a:r>
            </a:p>
          </p:txBody>
        </p:sp>
        <p:grpSp>
          <p:nvGrpSpPr>
            <p:cNvPr id="30" name="Group 30"/>
            <p:cNvGrpSpPr>
              <a:grpSpLocks noChangeAspect="1"/>
            </p:cNvGrpSpPr>
            <p:nvPr/>
          </p:nvGrpSpPr>
          <p:grpSpPr>
            <a:xfrm>
              <a:off x="14109484" y="1119183"/>
              <a:ext cx="4175355" cy="8463558"/>
              <a:chOff x="0" y="0"/>
              <a:chExt cx="9398000" cy="190500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401955" y="301498"/>
                <a:ext cx="8566912" cy="18446877"/>
              </a:xfrm>
              <a:custGeom>
                <a:avLst/>
                <a:gdLst/>
                <a:ahLst/>
                <a:cxnLst/>
                <a:rect l="l" t="t" r="r" b="b"/>
                <a:pathLst>
                  <a:path w="8566912" h="18446877">
                    <a:moveTo>
                      <a:pt x="7456551" y="18446877"/>
                    </a:moveTo>
                    <a:lnTo>
                      <a:pt x="1125220" y="18446877"/>
                    </a:lnTo>
                    <a:cubicBezTo>
                      <a:pt x="503809" y="18446877"/>
                      <a:pt x="0" y="17943067"/>
                      <a:pt x="0" y="17321657"/>
                    </a:cubicBezTo>
                    <a:lnTo>
                      <a:pt x="0" y="1085342"/>
                    </a:lnTo>
                    <a:cubicBezTo>
                      <a:pt x="0" y="485902"/>
                      <a:pt x="485902" y="0"/>
                      <a:pt x="1085342" y="0"/>
                    </a:cubicBezTo>
                    <a:lnTo>
                      <a:pt x="7504811" y="0"/>
                    </a:lnTo>
                    <a:cubicBezTo>
                      <a:pt x="8091424" y="0"/>
                      <a:pt x="8566912" y="475488"/>
                      <a:pt x="8566912" y="1062101"/>
                    </a:cubicBezTo>
                    <a:lnTo>
                      <a:pt x="8566912" y="17336515"/>
                    </a:lnTo>
                    <a:cubicBezTo>
                      <a:pt x="8566912" y="17949672"/>
                      <a:pt x="8069707" y="18446877"/>
                      <a:pt x="7456551" y="18446877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-163860" t="-24040" r="-137030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0" y="0"/>
                <a:ext cx="9398000" cy="19050000"/>
              </a:xfrm>
              <a:custGeom>
                <a:avLst/>
                <a:gdLst/>
                <a:ahLst/>
                <a:cxnLst/>
                <a:rect l="l" t="t" r="r" b="b"/>
                <a:pathLst>
                  <a:path w="9398000" h="19050000">
                    <a:moveTo>
                      <a:pt x="9398000" y="19050000"/>
                    </a:moveTo>
                    <a:lnTo>
                      <a:pt x="0" y="19050000"/>
                    </a:lnTo>
                    <a:lnTo>
                      <a:pt x="0" y="0"/>
                    </a:lnTo>
                    <a:lnTo>
                      <a:pt x="9398000" y="0"/>
                    </a:lnTo>
                    <a:lnTo>
                      <a:pt x="9398000" y="1905000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42" r="-4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" name="Group 33"/>
            <p:cNvGrpSpPr>
              <a:grpSpLocks noChangeAspect="1"/>
            </p:cNvGrpSpPr>
            <p:nvPr/>
          </p:nvGrpSpPr>
          <p:grpSpPr>
            <a:xfrm>
              <a:off x="18633075" y="1119183"/>
              <a:ext cx="4175355" cy="8463558"/>
              <a:chOff x="0" y="0"/>
              <a:chExt cx="9398000" cy="190500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401955" y="301498"/>
                <a:ext cx="8566912" cy="18446877"/>
              </a:xfrm>
              <a:custGeom>
                <a:avLst/>
                <a:gdLst/>
                <a:ahLst/>
                <a:cxnLst/>
                <a:rect l="l" t="t" r="r" b="b"/>
                <a:pathLst>
                  <a:path w="8566912" h="18446877">
                    <a:moveTo>
                      <a:pt x="7456551" y="18446877"/>
                    </a:moveTo>
                    <a:lnTo>
                      <a:pt x="1125220" y="18446877"/>
                    </a:lnTo>
                    <a:cubicBezTo>
                      <a:pt x="503809" y="18446877"/>
                      <a:pt x="0" y="17943067"/>
                      <a:pt x="0" y="17321657"/>
                    </a:cubicBezTo>
                    <a:lnTo>
                      <a:pt x="0" y="1085342"/>
                    </a:lnTo>
                    <a:cubicBezTo>
                      <a:pt x="0" y="485902"/>
                      <a:pt x="485902" y="0"/>
                      <a:pt x="1085342" y="0"/>
                    </a:cubicBezTo>
                    <a:lnTo>
                      <a:pt x="7504811" y="0"/>
                    </a:lnTo>
                    <a:cubicBezTo>
                      <a:pt x="8091424" y="0"/>
                      <a:pt x="8566912" y="475488"/>
                      <a:pt x="8566912" y="1062101"/>
                    </a:cubicBezTo>
                    <a:lnTo>
                      <a:pt x="8566912" y="17336515"/>
                    </a:lnTo>
                    <a:cubicBezTo>
                      <a:pt x="8566912" y="17949672"/>
                      <a:pt x="8069707" y="18446877"/>
                      <a:pt x="7456551" y="18446877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-38149" r="-38149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0" y="0"/>
                <a:ext cx="9398000" cy="19050000"/>
              </a:xfrm>
              <a:custGeom>
                <a:avLst/>
                <a:gdLst/>
                <a:ahLst/>
                <a:cxnLst/>
                <a:rect l="l" t="t" r="r" b="b"/>
                <a:pathLst>
                  <a:path w="9398000" h="19050000">
                    <a:moveTo>
                      <a:pt x="9398000" y="19050000"/>
                    </a:moveTo>
                    <a:lnTo>
                      <a:pt x="0" y="19050000"/>
                    </a:lnTo>
                    <a:lnTo>
                      <a:pt x="0" y="0"/>
                    </a:lnTo>
                    <a:lnTo>
                      <a:pt x="9398000" y="0"/>
                    </a:lnTo>
                    <a:lnTo>
                      <a:pt x="9398000" y="1905000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42" r="-4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4637377" y="2761350"/>
              <a:ext cx="3116619" cy="2097202"/>
              <a:chOff x="0" y="0"/>
              <a:chExt cx="743013" cy="49998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743013" cy="499980"/>
              </a:xfrm>
              <a:custGeom>
                <a:avLst/>
                <a:gdLst/>
                <a:ahLst/>
                <a:cxnLst/>
                <a:rect l="l" t="t" r="r" b="b"/>
                <a:pathLst>
                  <a:path w="743013" h="499980">
                    <a:moveTo>
                      <a:pt x="0" y="0"/>
                    </a:moveTo>
                    <a:lnTo>
                      <a:pt x="743013" y="0"/>
                    </a:lnTo>
                    <a:lnTo>
                      <a:pt x="743013" y="499980"/>
                    </a:lnTo>
                    <a:lnTo>
                      <a:pt x="0" y="499980"/>
                    </a:lnTo>
                    <a:close/>
                  </a:path>
                </a:pathLst>
              </a:custGeom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743013" cy="538080"/>
              </a:xfrm>
              <a:prstGeom prst="rect">
                <a:avLst/>
              </a:prstGeom>
            </p:spPr>
            <p:txBody>
              <a:bodyPr lIns="42091" tIns="42091" rIns="42091" bIns="42091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14905907" y="3044898"/>
              <a:ext cx="2582508" cy="1520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7"/>
                </a:lnSpc>
              </a:pPr>
              <a:r>
                <a:rPr lang="en-US" sz="2485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  <a:sym typeface="Rubik Medium"/>
                </a:rPr>
                <a:t>Deal-Seeking Loyalists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767124" y="5545120"/>
              <a:ext cx="2860074" cy="13536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05"/>
                </a:lnSpc>
              </a:pPr>
              <a:r>
                <a:rPr lang="en-US" sz="1657">
                  <a:solidFill>
                    <a:srgbClr val="FFFFFF"/>
                  </a:solidFill>
                  <a:latin typeface="Rubik Light"/>
                  <a:ea typeface="Rubik Light"/>
                  <a:cs typeface="Rubik Light"/>
                  <a:sym typeface="Rubik Light"/>
                </a:rPr>
                <a:t>High repeat volume driven by discounts. Strong activity, lower margins.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19160968" y="2761350"/>
              <a:ext cx="3116619" cy="2097202"/>
              <a:chOff x="0" y="0"/>
              <a:chExt cx="743013" cy="49998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743013" cy="499980"/>
              </a:xfrm>
              <a:custGeom>
                <a:avLst/>
                <a:gdLst/>
                <a:ahLst/>
                <a:cxnLst/>
                <a:rect l="l" t="t" r="r" b="b"/>
                <a:pathLst>
                  <a:path w="743013" h="499980">
                    <a:moveTo>
                      <a:pt x="0" y="0"/>
                    </a:moveTo>
                    <a:lnTo>
                      <a:pt x="743013" y="0"/>
                    </a:lnTo>
                    <a:lnTo>
                      <a:pt x="743013" y="499980"/>
                    </a:lnTo>
                    <a:lnTo>
                      <a:pt x="0" y="499980"/>
                    </a:lnTo>
                    <a:close/>
                  </a:path>
                </a:pathLst>
              </a:custGeom>
              <a:ln w="190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743013" cy="538080"/>
              </a:xfrm>
              <a:prstGeom prst="rect">
                <a:avLst/>
              </a:prstGeom>
            </p:spPr>
            <p:txBody>
              <a:bodyPr lIns="42091" tIns="42091" rIns="42091" bIns="42091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19429499" y="3044898"/>
              <a:ext cx="2582508" cy="1520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7"/>
                </a:lnSpc>
              </a:pPr>
              <a:r>
                <a:rPr lang="en-US" sz="2485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  <a:sym typeface="Rubik Medium"/>
                </a:rPr>
                <a:t>Dormant High Engagers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9290715" y="5545120"/>
              <a:ext cx="2860074" cy="13536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05"/>
                </a:lnSpc>
              </a:pPr>
              <a:r>
                <a:rPr lang="en-US" sz="1657">
                  <a:solidFill>
                    <a:srgbClr val="FFFFFF"/>
                  </a:solidFill>
                  <a:latin typeface="Rubik Light"/>
                  <a:ea typeface="Rubik Light"/>
                  <a:cs typeface="Rubik Light"/>
                  <a:sym typeface="Rubik Light"/>
                </a:rPr>
                <a:t>Previously active, now lapsed. Reactivation potential, uncertain value.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 3">
            <a:extLst>
              <a:ext uri="{FF2B5EF4-FFF2-40B4-BE49-F238E27FC236}">
                <a16:creationId xmlns:a16="http://schemas.microsoft.com/office/drawing/2014/main" id="{245B1143-6652-9BE1-89E3-BC38D0839566}"/>
              </a:ext>
            </a:extLst>
          </p:cNvPr>
          <p:cNvSpPr/>
          <p:nvPr/>
        </p:nvSpPr>
        <p:spPr>
          <a:xfrm>
            <a:off x="-8753" y="3106572"/>
            <a:ext cx="6729925" cy="7213646"/>
          </a:xfrm>
          <a:custGeom>
            <a:avLst/>
            <a:gdLst/>
            <a:ahLst/>
            <a:cxnLst/>
            <a:rect l="l" t="t" r="r" b="b"/>
            <a:pathLst>
              <a:path w="11233104" h="11462351">
                <a:moveTo>
                  <a:pt x="0" y="0"/>
                </a:moveTo>
                <a:lnTo>
                  <a:pt x="11233104" y="0"/>
                </a:lnTo>
                <a:lnTo>
                  <a:pt x="11233104" y="11462351"/>
                </a:lnTo>
                <a:lnTo>
                  <a:pt x="0" y="114623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913" b="-588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3436967" y="1028700"/>
            <a:ext cx="3822333" cy="5804880"/>
            <a:chOff x="0" y="0"/>
            <a:chExt cx="5096444" cy="7739840"/>
          </a:xfrm>
          <a:effectLst>
            <a:outerShdw blurRad="1270000" dist="50800" dir="5400000" algn="ctr" rotWithShape="0">
              <a:srgbClr val="000000">
                <a:alpha val="0"/>
              </a:srgbClr>
            </a:outerShdw>
            <a:reflection blurRad="63500" stA="28000" endPos="44000" dist="101600" dir="5400000" sy="-100000" algn="bl" rotWithShape="0"/>
          </a:effectLst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5096444" cy="7739840"/>
              <a:chOff x="0" y="0"/>
              <a:chExt cx="1006705" cy="152885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006705" cy="1528857"/>
              </a:xfrm>
              <a:custGeom>
                <a:avLst/>
                <a:gdLst/>
                <a:ahLst/>
                <a:cxnLst/>
                <a:rect l="l" t="t" r="r" b="b"/>
                <a:pathLst>
                  <a:path w="1006705" h="1528857">
                    <a:moveTo>
                      <a:pt x="123552" y="0"/>
                    </a:moveTo>
                    <a:lnTo>
                      <a:pt x="883153" y="0"/>
                    </a:lnTo>
                    <a:cubicBezTo>
                      <a:pt x="951389" y="0"/>
                      <a:pt x="1006705" y="55316"/>
                      <a:pt x="1006705" y="123552"/>
                    </a:cubicBezTo>
                    <a:lnTo>
                      <a:pt x="1006705" y="1405305"/>
                    </a:lnTo>
                    <a:cubicBezTo>
                      <a:pt x="1006705" y="1473541"/>
                      <a:pt x="951389" y="1528857"/>
                      <a:pt x="883153" y="1528857"/>
                    </a:cubicBezTo>
                    <a:lnTo>
                      <a:pt x="123552" y="1528857"/>
                    </a:lnTo>
                    <a:cubicBezTo>
                      <a:pt x="55316" y="1528857"/>
                      <a:pt x="0" y="1473541"/>
                      <a:pt x="0" y="1405305"/>
                    </a:cubicBezTo>
                    <a:lnTo>
                      <a:pt x="0" y="123552"/>
                    </a:lnTo>
                    <a:cubicBezTo>
                      <a:pt x="0" y="55316"/>
                      <a:pt x="55316" y="0"/>
                      <a:pt x="12355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68500"/>
                    </a:srgbClr>
                  </a:gs>
                  <a:gs pos="100000">
                    <a:srgbClr val="EAFFFA">
                      <a:alpha val="85500"/>
                    </a:srgbClr>
                  </a:gs>
                </a:gsLst>
                <a:lin ang="2700000"/>
              </a:grad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1006705" cy="15764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17721" y="375073"/>
              <a:ext cx="3978946" cy="6203195"/>
              <a:chOff x="0" y="0"/>
              <a:chExt cx="619572" cy="96591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19572" cy="965916"/>
              </a:xfrm>
              <a:custGeom>
                <a:avLst/>
                <a:gdLst/>
                <a:ahLst/>
                <a:cxnLst/>
                <a:rect l="l" t="t" r="r" b="b"/>
                <a:pathLst>
                  <a:path w="619572" h="965916">
                    <a:moveTo>
                      <a:pt x="116743" y="0"/>
                    </a:moveTo>
                    <a:lnTo>
                      <a:pt x="502829" y="0"/>
                    </a:lnTo>
                    <a:cubicBezTo>
                      <a:pt x="567305" y="0"/>
                      <a:pt x="619572" y="52268"/>
                      <a:pt x="619572" y="116743"/>
                    </a:cubicBezTo>
                    <a:lnTo>
                      <a:pt x="619572" y="849173"/>
                    </a:lnTo>
                    <a:cubicBezTo>
                      <a:pt x="619572" y="880135"/>
                      <a:pt x="607273" y="909829"/>
                      <a:pt x="585379" y="931723"/>
                    </a:cubicBezTo>
                    <a:cubicBezTo>
                      <a:pt x="563485" y="953616"/>
                      <a:pt x="533791" y="965916"/>
                      <a:pt x="502829" y="965916"/>
                    </a:cubicBezTo>
                    <a:lnTo>
                      <a:pt x="116743" y="965916"/>
                    </a:lnTo>
                    <a:cubicBezTo>
                      <a:pt x="52268" y="965916"/>
                      <a:pt x="0" y="913648"/>
                      <a:pt x="0" y="849173"/>
                    </a:cubicBezTo>
                    <a:lnTo>
                      <a:pt x="0" y="116743"/>
                    </a:lnTo>
                    <a:cubicBezTo>
                      <a:pt x="0" y="52268"/>
                      <a:pt x="52268" y="0"/>
                      <a:pt x="116743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98197" r="-41649"/>
                </a:stretch>
              </a:blip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568924" y="6804231"/>
              <a:ext cx="1958596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-US" sz="3000">
                  <a:solidFill>
                    <a:srgbClr val="281574"/>
                  </a:solidFill>
                  <a:latin typeface="Rubik"/>
                  <a:ea typeface="Rubik"/>
                  <a:cs typeface="Rubik"/>
                  <a:sym typeface="Rubik"/>
                </a:rPr>
                <a:t>Samuel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7449819"/>
            <a:ext cx="3790817" cy="1808481"/>
            <a:chOff x="0" y="0"/>
            <a:chExt cx="1047895" cy="4999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47895" cy="499918"/>
            </a:xfrm>
            <a:custGeom>
              <a:avLst/>
              <a:gdLst/>
              <a:ahLst/>
              <a:cxnLst/>
              <a:rect l="l" t="t" r="r" b="b"/>
              <a:pathLst>
                <a:path w="1047895" h="499918">
                  <a:moveTo>
                    <a:pt x="124579" y="0"/>
                  </a:moveTo>
                  <a:lnTo>
                    <a:pt x="923316" y="0"/>
                  </a:lnTo>
                  <a:cubicBezTo>
                    <a:pt x="992119" y="0"/>
                    <a:pt x="1047895" y="55776"/>
                    <a:pt x="1047895" y="124579"/>
                  </a:cubicBezTo>
                  <a:lnTo>
                    <a:pt x="1047895" y="375339"/>
                  </a:lnTo>
                  <a:cubicBezTo>
                    <a:pt x="1047895" y="408379"/>
                    <a:pt x="1034770" y="440067"/>
                    <a:pt x="1011407" y="463430"/>
                  </a:cubicBezTo>
                  <a:cubicBezTo>
                    <a:pt x="988044" y="486793"/>
                    <a:pt x="956357" y="499918"/>
                    <a:pt x="923316" y="499918"/>
                  </a:cubicBezTo>
                  <a:lnTo>
                    <a:pt x="124579" y="499918"/>
                  </a:lnTo>
                  <a:cubicBezTo>
                    <a:pt x="55776" y="499918"/>
                    <a:pt x="0" y="444142"/>
                    <a:pt x="0" y="375339"/>
                  </a:cubicBezTo>
                  <a:lnTo>
                    <a:pt x="0" y="124579"/>
                  </a:lnTo>
                  <a:cubicBezTo>
                    <a:pt x="0" y="55776"/>
                    <a:pt x="55776" y="0"/>
                    <a:pt x="124579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047895" cy="547543"/>
            </a:xfrm>
            <a:prstGeom prst="rect">
              <a:avLst/>
            </a:prstGeom>
          </p:spPr>
          <p:txBody>
            <a:bodyPr lIns="48401" tIns="48401" rIns="48401" bIns="4840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425678" y="8236629"/>
            <a:ext cx="2488592" cy="636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4"/>
              </a:lnSpc>
            </a:pPr>
            <a:r>
              <a:rPr lang="en-US" sz="181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Online Shoping</a:t>
            </a:r>
          </a:p>
          <a:p>
            <a:pPr algn="l">
              <a:lnSpc>
                <a:spcPts val="2534"/>
              </a:lnSpc>
            </a:pPr>
            <a:r>
              <a:rPr lang="en-US" sz="181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Social Media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2109" y="8174488"/>
            <a:ext cx="1316440" cy="461399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2109" y="8507009"/>
            <a:ext cx="1316440" cy="461399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408793" y="7686131"/>
            <a:ext cx="2979091" cy="416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858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Tech Behaviour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5405384"/>
            <a:ext cx="3790817" cy="1808481"/>
            <a:chOff x="0" y="0"/>
            <a:chExt cx="1047895" cy="49991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47895" cy="499918"/>
            </a:xfrm>
            <a:custGeom>
              <a:avLst/>
              <a:gdLst/>
              <a:ahLst/>
              <a:cxnLst/>
              <a:rect l="l" t="t" r="r" b="b"/>
              <a:pathLst>
                <a:path w="1047895" h="499918">
                  <a:moveTo>
                    <a:pt x="124579" y="0"/>
                  </a:moveTo>
                  <a:lnTo>
                    <a:pt x="923316" y="0"/>
                  </a:lnTo>
                  <a:cubicBezTo>
                    <a:pt x="992119" y="0"/>
                    <a:pt x="1047895" y="55776"/>
                    <a:pt x="1047895" y="124579"/>
                  </a:cubicBezTo>
                  <a:lnTo>
                    <a:pt x="1047895" y="375339"/>
                  </a:lnTo>
                  <a:cubicBezTo>
                    <a:pt x="1047895" y="408379"/>
                    <a:pt x="1034770" y="440067"/>
                    <a:pt x="1011407" y="463430"/>
                  </a:cubicBezTo>
                  <a:cubicBezTo>
                    <a:pt x="988044" y="486793"/>
                    <a:pt x="956357" y="499918"/>
                    <a:pt x="923316" y="499918"/>
                  </a:cubicBezTo>
                  <a:lnTo>
                    <a:pt x="124579" y="499918"/>
                  </a:lnTo>
                  <a:cubicBezTo>
                    <a:pt x="55776" y="499918"/>
                    <a:pt x="0" y="444142"/>
                    <a:pt x="0" y="375339"/>
                  </a:cubicBezTo>
                  <a:lnTo>
                    <a:pt x="0" y="124579"/>
                  </a:lnTo>
                  <a:cubicBezTo>
                    <a:pt x="0" y="55776"/>
                    <a:pt x="55776" y="0"/>
                    <a:pt x="124579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047895" cy="547543"/>
            </a:xfrm>
            <a:prstGeom prst="rect">
              <a:avLst/>
            </a:prstGeom>
          </p:spPr>
          <p:txBody>
            <a:bodyPr lIns="48401" tIns="48401" rIns="48401" bIns="4840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408793" y="6592335"/>
            <a:ext cx="242120" cy="242120"/>
          </a:xfrm>
          <a:custGeom>
            <a:avLst/>
            <a:gdLst/>
            <a:ahLst/>
            <a:cxnLst/>
            <a:rect l="l" t="t" r="r" b="b"/>
            <a:pathLst>
              <a:path w="242120" h="242120">
                <a:moveTo>
                  <a:pt x="0" y="0"/>
                </a:moveTo>
                <a:lnTo>
                  <a:pt x="242120" y="0"/>
                </a:lnTo>
                <a:lnTo>
                  <a:pt x="242120" y="242121"/>
                </a:lnTo>
                <a:lnTo>
                  <a:pt x="0" y="2421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433808" y="6177877"/>
            <a:ext cx="217105" cy="294834"/>
          </a:xfrm>
          <a:custGeom>
            <a:avLst/>
            <a:gdLst/>
            <a:ahLst/>
            <a:cxnLst/>
            <a:rect l="l" t="t" r="r" b="b"/>
            <a:pathLst>
              <a:path w="217105" h="294834">
                <a:moveTo>
                  <a:pt x="0" y="0"/>
                </a:moveTo>
                <a:lnTo>
                  <a:pt x="217105" y="0"/>
                </a:lnTo>
                <a:lnTo>
                  <a:pt x="217105" y="294834"/>
                </a:lnTo>
                <a:lnTo>
                  <a:pt x="0" y="2948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1028700" y="3360949"/>
            <a:ext cx="3790817" cy="1808481"/>
            <a:chOff x="0" y="0"/>
            <a:chExt cx="1047895" cy="49991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47895" cy="499918"/>
            </a:xfrm>
            <a:custGeom>
              <a:avLst/>
              <a:gdLst/>
              <a:ahLst/>
              <a:cxnLst/>
              <a:rect l="l" t="t" r="r" b="b"/>
              <a:pathLst>
                <a:path w="1047895" h="499918">
                  <a:moveTo>
                    <a:pt x="124579" y="0"/>
                  </a:moveTo>
                  <a:lnTo>
                    <a:pt x="923316" y="0"/>
                  </a:lnTo>
                  <a:cubicBezTo>
                    <a:pt x="992119" y="0"/>
                    <a:pt x="1047895" y="55776"/>
                    <a:pt x="1047895" y="124579"/>
                  </a:cubicBezTo>
                  <a:lnTo>
                    <a:pt x="1047895" y="375339"/>
                  </a:lnTo>
                  <a:cubicBezTo>
                    <a:pt x="1047895" y="408379"/>
                    <a:pt x="1034770" y="440067"/>
                    <a:pt x="1011407" y="463430"/>
                  </a:cubicBezTo>
                  <a:cubicBezTo>
                    <a:pt x="988044" y="486793"/>
                    <a:pt x="956357" y="499918"/>
                    <a:pt x="923316" y="499918"/>
                  </a:cubicBezTo>
                  <a:lnTo>
                    <a:pt x="124579" y="499918"/>
                  </a:lnTo>
                  <a:cubicBezTo>
                    <a:pt x="55776" y="499918"/>
                    <a:pt x="0" y="444142"/>
                    <a:pt x="0" y="375339"/>
                  </a:cubicBezTo>
                  <a:lnTo>
                    <a:pt x="0" y="124579"/>
                  </a:lnTo>
                  <a:cubicBezTo>
                    <a:pt x="0" y="55776"/>
                    <a:pt x="55776" y="0"/>
                    <a:pt x="124579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047895" cy="547543"/>
            </a:xfrm>
            <a:prstGeom prst="rect">
              <a:avLst/>
            </a:prstGeom>
          </p:spPr>
          <p:txBody>
            <a:bodyPr lIns="48401" tIns="48401" rIns="48401" bIns="4840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356709" y="4595696"/>
            <a:ext cx="208349" cy="160618"/>
          </a:xfrm>
          <a:custGeom>
            <a:avLst/>
            <a:gdLst/>
            <a:ahLst/>
            <a:cxnLst/>
            <a:rect l="l" t="t" r="r" b="b"/>
            <a:pathLst>
              <a:path w="208349" h="160618">
                <a:moveTo>
                  <a:pt x="0" y="0"/>
                </a:moveTo>
                <a:lnTo>
                  <a:pt x="208349" y="0"/>
                </a:lnTo>
                <a:lnTo>
                  <a:pt x="208349" y="160618"/>
                </a:lnTo>
                <a:lnTo>
                  <a:pt x="0" y="1606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366498" y="4213472"/>
            <a:ext cx="188771" cy="243508"/>
          </a:xfrm>
          <a:custGeom>
            <a:avLst/>
            <a:gdLst/>
            <a:ahLst/>
            <a:cxnLst/>
            <a:rect l="l" t="t" r="r" b="b"/>
            <a:pathLst>
              <a:path w="188771" h="243508">
                <a:moveTo>
                  <a:pt x="0" y="0"/>
                </a:moveTo>
                <a:lnTo>
                  <a:pt x="188771" y="0"/>
                </a:lnTo>
                <a:lnTo>
                  <a:pt x="188771" y="243507"/>
                </a:lnTo>
                <a:lnTo>
                  <a:pt x="0" y="243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408793" y="3597261"/>
            <a:ext cx="3410724" cy="416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858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Persona Identity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721300" y="4165847"/>
            <a:ext cx="2720025" cy="636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4"/>
              </a:lnSpc>
            </a:pPr>
            <a:r>
              <a:rPr lang="en-US" sz="181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: 37 y.o.</a:t>
            </a:r>
          </a:p>
          <a:p>
            <a:pPr algn="l">
              <a:lnSpc>
                <a:spcPts val="2534"/>
              </a:lnSpc>
            </a:pPr>
            <a:r>
              <a:rPr lang="en-US" sz="181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: Investment Banker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08793" y="5641696"/>
            <a:ext cx="2979091" cy="416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858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Background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63595" y="6210344"/>
            <a:ext cx="2488592" cy="636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4"/>
              </a:lnSpc>
            </a:pPr>
            <a:r>
              <a:rPr lang="en-US" sz="181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: New York, New York</a:t>
            </a:r>
          </a:p>
          <a:p>
            <a:pPr algn="l">
              <a:lnSpc>
                <a:spcPts val="2534"/>
              </a:lnSpc>
            </a:pPr>
            <a:r>
              <a:rPr lang="en-US" sz="181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: Upper-middle class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5311318" y="3360949"/>
            <a:ext cx="7352869" cy="1808481"/>
            <a:chOff x="0" y="0"/>
            <a:chExt cx="2032553" cy="49991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32553" cy="499918"/>
            </a:xfrm>
            <a:custGeom>
              <a:avLst/>
              <a:gdLst/>
              <a:ahLst/>
              <a:cxnLst/>
              <a:rect l="l" t="t" r="r" b="b"/>
              <a:pathLst>
                <a:path w="2032553" h="499918">
                  <a:moveTo>
                    <a:pt x="64228" y="0"/>
                  </a:moveTo>
                  <a:lnTo>
                    <a:pt x="1968325" y="0"/>
                  </a:lnTo>
                  <a:cubicBezTo>
                    <a:pt x="2003797" y="0"/>
                    <a:pt x="2032553" y="28756"/>
                    <a:pt x="2032553" y="64228"/>
                  </a:cubicBezTo>
                  <a:lnTo>
                    <a:pt x="2032553" y="435691"/>
                  </a:lnTo>
                  <a:cubicBezTo>
                    <a:pt x="2032553" y="452725"/>
                    <a:pt x="2025786" y="469061"/>
                    <a:pt x="2013741" y="481106"/>
                  </a:cubicBezTo>
                  <a:cubicBezTo>
                    <a:pt x="2001696" y="493151"/>
                    <a:pt x="1985360" y="499918"/>
                    <a:pt x="1968325" y="499918"/>
                  </a:cubicBezTo>
                  <a:lnTo>
                    <a:pt x="64228" y="499918"/>
                  </a:lnTo>
                  <a:cubicBezTo>
                    <a:pt x="47193" y="499918"/>
                    <a:pt x="30857" y="493151"/>
                    <a:pt x="18812" y="481106"/>
                  </a:cubicBezTo>
                  <a:cubicBezTo>
                    <a:pt x="6767" y="469061"/>
                    <a:pt x="0" y="452725"/>
                    <a:pt x="0" y="435691"/>
                  </a:cubicBezTo>
                  <a:lnTo>
                    <a:pt x="0" y="64228"/>
                  </a:lnTo>
                  <a:cubicBezTo>
                    <a:pt x="0" y="47193"/>
                    <a:pt x="6767" y="30857"/>
                    <a:pt x="18812" y="18812"/>
                  </a:cubicBezTo>
                  <a:cubicBezTo>
                    <a:pt x="30857" y="6767"/>
                    <a:pt x="47193" y="0"/>
                    <a:pt x="64228" y="0"/>
                  </a:cubicBezTo>
                  <a:close/>
                </a:path>
              </a:pathLst>
            </a:custGeom>
            <a:solidFill>
              <a:srgbClr val="9F56FF"/>
            </a:solidFill>
            <a:ln w="38100" cap="rnd">
              <a:solidFill>
                <a:srgbClr val="9F56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2032553" cy="547543"/>
            </a:xfrm>
            <a:prstGeom prst="rect">
              <a:avLst/>
            </a:prstGeom>
          </p:spPr>
          <p:txBody>
            <a:bodyPr lIns="48401" tIns="48401" rIns="48401" bIns="4840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5848711" y="3597261"/>
            <a:ext cx="3723073" cy="416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858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Goals &amp; Motivation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848711" y="4165847"/>
            <a:ext cx="1356658" cy="636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4"/>
              </a:lnSpc>
            </a:pPr>
            <a:r>
              <a:rPr lang="en-US" sz="181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Purpose </a:t>
            </a:r>
          </a:p>
          <a:p>
            <a:pPr algn="l">
              <a:lnSpc>
                <a:spcPts val="2534"/>
              </a:lnSpc>
            </a:pPr>
            <a:r>
              <a:rPr lang="en-US" sz="181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Reasons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259275" y="4165847"/>
            <a:ext cx="4983655" cy="636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4"/>
              </a:lnSpc>
            </a:pPr>
            <a:r>
              <a:rPr lang="en-US" sz="181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: Maintain reputation, get promoted. </a:t>
            </a:r>
          </a:p>
          <a:p>
            <a:pPr algn="l">
              <a:lnSpc>
                <a:spcPts val="2534"/>
              </a:lnSpc>
            </a:pPr>
            <a:r>
              <a:rPr lang="en-US" sz="181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: Keeping up with trends on the go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5311318" y="5405384"/>
            <a:ext cx="7352869" cy="1808481"/>
            <a:chOff x="0" y="0"/>
            <a:chExt cx="2032553" cy="49991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032553" cy="499918"/>
            </a:xfrm>
            <a:custGeom>
              <a:avLst/>
              <a:gdLst/>
              <a:ahLst/>
              <a:cxnLst/>
              <a:rect l="l" t="t" r="r" b="b"/>
              <a:pathLst>
                <a:path w="2032553" h="499918">
                  <a:moveTo>
                    <a:pt x="64228" y="0"/>
                  </a:moveTo>
                  <a:lnTo>
                    <a:pt x="1968325" y="0"/>
                  </a:lnTo>
                  <a:cubicBezTo>
                    <a:pt x="2003797" y="0"/>
                    <a:pt x="2032553" y="28756"/>
                    <a:pt x="2032553" y="64228"/>
                  </a:cubicBezTo>
                  <a:lnTo>
                    <a:pt x="2032553" y="435691"/>
                  </a:lnTo>
                  <a:cubicBezTo>
                    <a:pt x="2032553" y="452725"/>
                    <a:pt x="2025786" y="469061"/>
                    <a:pt x="2013741" y="481106"/>
                  </a:cubicBezTo>
                  <a:cubicBezTo>
                    <a:pt x="2001696" y="493151"/>
                    <a:pt x="1985360" y="499918"/>
                    <a:pt x="1968325" y="499918"/>
                  </a:cubicBezTo>
                  <a:lnTo>
                    <a:pt x="64228" y="499918"/>
                  </a:lnTo>
                  <a:cubicBezTo>
                    <a:pt x="47193" y="499918"/>
                    <a:pt x="30857" y="493151"/>
                    <a:pt x="18812" y="481106"/>
                  </a:cubicBezTo>
                  <a:cubicBezTo>
                    <a:pt x="6767" y="469061"/>
                    <a:pt x="0" y="452725"/>
                    <a:pt x="0" y="435691"/>
                  </a:cubicBezTo>
                  <a:lnTo>
                    <a:pt x="0" y="64228"/>
                  </a:lnTo>
                  <a:cubicBezTo>
                    <a:pt x="0" y="47193"/>
                    <a:pt x="6767" y="30857"/>
                    <a:pt x="18812" y="18812"/>
                  </a:cubicBezTo>
                  <a:cubicBezTo>
                    <a:pt x="30857" y="6767"/>
                    <a:pt x="47193" y="0"/>
                    <a:pt x="64228" y="0"/>
                  </a:cubicBezTo>
                  <a:close/>
                </a:path>
              </a:pathLst>
            </a:custGeom>
            <a:solidFill>
              <a:srgbClr val="9F56FF"/>
            </a:solidFill>
            <a:ln w="38100" cap="rnd">
              <a:solidFill>
                <a:srgbClr val="9F56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2032553" cy="547543"/>
            </a:xfrm>
            <a:prstGeom prst="rect">
              <a:avLst/>
            </a:prstGeom>
          </p:spPr>
          <p:txBody>
            <a:bodyPr lIns="48401" tIns="48401" rIns="48401" bIns="4840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5848711" y="5641696"/>
            <a:ext cx="5289033" cy="416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858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Pain Points (Challenges)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848711" y="6210281"/>
            <a:ext cx="1356658" cy="636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4"/>
              </a:lnSpc>
            </a:pPr>
            <a:r>
              <a:rPr lang="en-US" sz="181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Challenge</a:t>
            </a:r>
          </a:p>
          <a:p>
            <a:pPr algn="l">
              <a:lnSpc>
                <a:spcPts val="2534"/>
              </a:lnSpc>
            </a:pPr>
            <a:r>
              <a:rPr lang="en-US" sz="181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Frustration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259275" y="6210281"/>
            <a:ext cx="5099864" cy="636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4"/>
              </a:lnSpc>
            </a:pPr>
            <a:r>
              <a:rPr lang="en-US" sz="181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: Demanding work&amp; life schedule</a:t>
            </a:r>
          </a:p>
          <a:p>
            <a:pPr algn="l">
              <a:lnSpc>
                <a:spcPts val="2534"/>
              </a:lnSpc>
            </a:pPr>
            <a:r>
              <a:rPr lang="en-US" sz="181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: Limited patience for waiting &amp; resolving issues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5311318" y="7449819"/>
            <a:ext cx="7352869" cy="1808481"/>
            <a:chOff x="0" y="0"/>
            <a:chExt cx="2032553" cy="49991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032553" cy="499918"/>
            </a:xfrm>
            <a:custGeom>
              <a:avLst/>
              <a:gdLst/>
              <a:ahLst/>
              <a:cxnLst/>
              <a:rect l="l" t="t" r="r" b="b"/>
              <a:pathLst>
                <a:path w="2032553" h="499918">
                  <a:moveTo>
                    <a:pt x="64228" y="0"/>
                  </a:moveTo>
                  <a:lnTo>
                    <a:pt x="1968325" y="0"/>
                  </a:lnTo>
                  <a:cubicBezTo>
                    <a:pt x="2003797" y="0"/>
                    <a:pt x="2032553" y="28756"/>
                    <a:pt x="2032553" y="64228"/>
                  </a:cubicBezTo>
                  <a:lnTo>
                    <a:pt x="2032553" y="435691"/>
                  </a:lnTo>
                  <a:cubicBezTo>
                    <a:pt x="2032553" y="452725"/>
                    <a:pt x="2025786" y="469061"/>
                    <a:pt x="2013741" y="481106"/>
                  </a:cubicBezTo>
                  <a:cubicBezTo>
                    <a:pt x="2001696" y="493151"/>
                    <a:pt x="1985360" y="499918"/>
                    <a:pt x="1968325" y="499918"/>
                  </a:cubicBezTo>
                  <a:lnTo>
                    <a:pt x="64228" y="499918"/>
                  </a:lnTo>
                  <a:cubicBezTo>
                    <a:pt x="47193" y="499918"/>
                    <a:pt x="30857" y="493151"/>
                    <a:pt x="18812" y="481106"/>
                  </a:cubicBezTo>
                  <a:cubicBezTo>
                    <a:pt x="6767" y="469061"/>
                    <a:pt x="0" y="452725"/>
                    <a:pt x="0" y="435691"/>
                  </a:cubicBezTo>
                  <a:lnTo>
                    <a:pt x="0" y="64228"/>
                  </a:lnTo>
                  <a:cubicBezTo>
                    <a:pt x="0" y="47193"/>
                    <a:pt x="6767" y="30857"/>
                    <a:pt x="18812" y="18812"/>
                  </a:cubicBezTo>
                  <a:cubicBezTo>
                    <a:pt x="30857" y="6767"/>
                    <a:pt x="47193" y="0"/>
                    <a:pt x="64228" y="0"/>
                  </a:cubicBezTo>
                  <a:close/>
                </a:path>
              </a:pathLst>
            </a:custGeom>
            <a:solidFill>
              <a:srgbClr val="9F56FF"/>
            </a:solidFill>
            <a:ln w="38100" cap="rnd">
              <a:solidFill>
                <a:srgbClr val="9F56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2032553" cy="547543"/>
            </a:xfrm>
            <a:prstGeom prst="rect">
              <a:avLst/>
            </a:prstGeom>
          </p:spPr>
          <p:txBody>
            <a:bodyPr lIns="48401" tIns="48401" rIns="48401" bIns="4840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5848711" y="7686131"/>
            <a:ext cx="5945085" cy="416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858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Potential Bias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848711" y="8254716"/>
            <a:ext cx="6510428" cy="636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4"/>
              </a:lnSpc>
            </a:pPr>
            <a:r>
              <a:rPr lang="en-US" sz="181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Values speed and convenience over personalization; may view chatbots as efficient but lacking a human touch.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03172" y="1854354"/>
            <a:ext cx="11461016" cy="142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Target Persona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D052E"/>
            </a:gs>
            <a:gs pos="28000">
              <a:srgbClr val="15084C"/>
            </a:gs>
            <a:gs pos="79000">
              <a:srgbClr val="BB93F7"/>
            </a:gs>
            <a:gs pos="100000">
              <a:srgbClr val="D5E1EF"/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70E0C1-469C-6858-2DB3-C12D89240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9">
            <a:extLst>
              <a:ext uri="{FF2B5EF4-FFF2-40B4-BE49-F238E27FC236}">
                <a16:creationId xmlns:a16="http://schemas.microsoft.com/office/drawing/2014/main" id="{F3DF00B3-2E7E-99C2-2122-D4FCE4BFEE68}"/>
              </a:ext>
            </a:extLst>
          </p:cNvPr>
          <p:cNvSpPr txBox="1"/>
          <p:nvPr/>
        </p:nvSpPr>
        <p:spPr>
          <a:xfrm>
            <a:off x="1203172" y="1854354"/>
            <a:ext cx="14102359" cy="1166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 dirty="0">
                <a:solidFill>
                  <a:srgbClr val="FFFFFF"/>
                </a:solidFill>
                <a:latin typeface="Agrandir" panose="020B0604020202020204" charset="0"/>
                <a:ea typeface="Agrandir"/>
                <a:cs typeface="Rubik" panose="020B0604020202020204" charset="-79"/>
                <a:sym typeface="Agrandir"/>
              </a:rPr>
              <a:t>Customer Journey Map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0E8A6B94-4E97-4C94-CC68-563AB2D89E17}"/>
              </a:ext>
            </a:extLst>
          </p:cNvPr>
          <p:cNvGrpSpPr/>
          <p:nvPr/>
        </p:nvGrpSpPr>
        <p:grpSpPr>
          <a:xfrm>
            <a:off x="165688" y="5837482"/>
            <a:ext cx="17817512" cy="3612200"/>
            <a:chOff x="117517" y="4791537"/>
            <a:chExt cx="17817512" cy="3612200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5CFF576-5302-47E5-9DA6-09205625EFE1}"/>
                </a:ext>
              </a:extLst>
            </p:cNvPr>
            <p:cNvSpPr txBox="1"/>
            <p:nvPr/>
          </p:nvSpPr>
          <p:spPr>
            <a:xfrm>
              <a:off x="150953" y="4791537"/>
              <a:ext cx="1935769" cy="2895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3"/>
                </a:lnSpc>
              </a:pPr>
              <a:r>
                <a:rPr lang="en-US" sz="2400" spc="-91" dirty="0">
                  <a:solidFill>
                    <a:srgbClr val="FFFFFF"/>
                  </a:solidFill>
                  <a:latin typeface="Rubik" panose="020B0604020202020204" charset="-79"/>
                  <a:ea typeface="TT Travels Bold"/>
                  <a:cs typeface="Rubik" panose="020B0604020202020204" charset="-79"/>
                  <a:sym typeface="TT Travels Bold"/>
                </a:rPr>
                <a:t>Awareness</a:t>
              </a: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BD505125-4642-7497-8838-B430824E12E3}"/>
                </a:ext>
              </a:extLst>
            </p:cNvPr>
            <p:cNvSpPr txBox="1"/>
            <p:nvPr/>
          </p:nvSpPr>
          <p:spPr>
            <a:xfrm>
              <a:off x="117517" y="5670504"/>
              <a:ext cx="1981199" cy="10534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1600" dirty="0">
                  <a:solidFill>
                    <a:srgbClr val="FFFFFF"/>
                  </a:solidFill>
                  <a:latin typeface="Rubik" panose="020B0604020202020204" charset="-79"/>
                  <a:ea typeface="DM Sans"/>
                  <a:cs typeface="Rubik" panose="020B0604020202020204" charset="-79"/>
                  <a:sym typeface="DM Sans"/>
                </a:rPr>
                <a:t>Discovers the brand through ads or word of mouth. </a:t>
              </a: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1DB3294A-2925-88E2-F96E-9C3293A5004B}"/>
                </a:ext>
              </a:extLst>
            </p:cNvPr>
            <p:cNvGrpSpPr/>
            <p:nvPr/>
          </p:nvGrpSpPr>
          <p:grpSpPr>
            <a:xfrm>
              <a:off x="300724" y="7258003"/>
              <a:ext cx="1606668" cy="1135326"/>
              <a:chOff x="300724" y="7258004"/>
              <a:chExt cx="1606668" cy="1135326"/>
            </a:xfrm>
          </p:grpSpPr>
          <p:grpSp>
            <p:nvGrpSpPr>
              <p:cNvPr id="20" name="Group 20">
                <a:extLst>
                  <a:ext uri="{FF2B5EF4-FFF2-40B4-BE49-F238E27FC236}">
                    <a16:creationId xmlns:a16="http://schemas.microsoft.com/office/drawing/2014/main" id="{7997C3E6-B725-3EDC-24BA-CC187858D5EE}"/>
                  </a:ext>
                </a:extLst>
              </p:cNvPr>
              <p:cNvGrpSpPr/>
              <p:nvPr/>
            </p:nvGrpSpPr>
            <p:grpSpPr>
              <a:xfrm>
                <a:off x="300724" y="7258004"/>
                <a:ext cx="1606668" cy="1135326"/>
                <a:chOff x="0" y="0"/>
                <a:chExt cx="660943" cy="299016"/>
              </a:xfrm>
            </p:grpSpPr>
            <p:sp>
              <p:nvSpPr>
                <p:cNvPr id="21" name="Freeform 21">
                  <a:extLst>
                    <a:ext uri="{FF2B5EF4-FFF2-40B4-BE49-F238E27FC236}">
                      <a16:creationId xmlns:a16="http://schemas.microsoft.com/office/drawing/2014/main" id="{AFB917A6-FDF9-2FF4-0A4B-DE3A4265A1F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0943" cy="299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943" h="299016">
                      <a:moveTo>
                        <a:pt x="0" y="0"/>
                      </a:moveTo>
                      <a:lnTo>
                        <a:pt x="660943" y="0"/>
                      </a:lnTo>
                      <a:lnTo>
                        <a:pt x="660943" y="299016"/>
                      </a:lnTo>
                      <a:lnTo>
                        <a:pt x="0" y="299016"/>
                      </a:lnTo>
                      <a:close/>
                    </a:path>
                  </a:pathLst>
                </a:custGeom>
                <a:ln w="19050" cap="sq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>
                    <a:latin typeface="Rubik" panose="020B0604020202020204" charset="-79"/>
                    <a:cs typeface="Rubik" panose="020B0604020202020204" charset="-79"/>
                  </a:endParaRPr>
                </a:p>
              </p:txBody>
            </p:sp>
            <p:sp>
              <p:nvSpPr>
                <p:cNvPr id="22" name="TextBox 22">
                  <a:extLst>
                    <a:ext uri="{FF2B5EF4-FFF2-40B4-BE49-F238E27FC236}">
                      <a16:creationId xmlns:a16="http://schemas.microsoft.com/office/drawing/2014/main" id="{630B5115-5C24-AF10-7237-E6443E8EE6D9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660943" cy="337116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  <a:spcBef>
                      <a:spcPct val="0"/>
                    </a:spcBef>
                  </a:pPr>
                  <a:endParaRPr>
                    <a:latin typeface="Rubik" panose="020B0604020202020204" charset="-79"/>
                    <a:cs typeface="Rubik" panose="020B0604020202020204" charset="-79"/>
                  </a:endParaRPr>
                </a:p>
              </p:txBody>
            </p:sp>
          </p:grpSp>
          <p:sp>
            <p:nvSpPr>
              <p:cNvPr id="23" name="TextBox 23">
                <a:extLst>
                  <a:ext uri="{FF2B5EF4-FFF2-40B4-BE49-F238E27FC236}">
                    <a16:creationId xmlns:a16="http://schemas.microsoft.com/office/drawing/2014/main" id="{BC9A0133-FE16-4F1B-D8AC-F0A940EE7218}"/>
                  </a:ext>
                </a:extLst>
              </p:cNvPr>
              <p:cNvSpPr txBox="1"/>
              <p:nvPr/>
            </p:nvSpPr>
            <p:spPr>
              <a:xfrm>
                <a:off x="363394" y="7373364"/>
                <a:ext cx="1481328" cy="90460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1814"/>
                  </a:lnSpc>
                </a:pPr>
                <a:r>
                  <a:rPr lang="en-US" sz="1200" dirty="0">
                    <a:solidFill>
                      <a:srgbClr val="FFFFFF"/>
                    </a:solidFill>
                    <a:latin typeface="Rubik" panose="020B0604020202020204" charset="-79"/>
                    <a:ea typeface="Rubik"/>
                    <a:cs typeface="Rubik" panose="020B0604020202020204" charset="-79"/>
                    <a:sym typeface="Rubik"/>
                  </a:rPr>
                  <a:t>Irrelevant positioning, negative shared experiences</a:t>
                </a:r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7954490-CB18-0BDF-FB1A-E5F9BC844EB0}"/>
                </a:ext>
              </a:extLst>
            </p:cNvPr>
            <p:cNvSpPr txBox="1"/>
            <p:nvPr/>
          </p:nvSpPr>
          <p:spPr>
            <a:xfrm>
              <a:off x="9232850" y="4791537"/>
              <a:ext cx="1938528" cy="289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83"/>
                </a:lnSpc>
              </a:pPr>
              <a:r>
                <a:rPr lang="en-US" sz="2400" spc="-91" dirty="0">
                  <a:solidFill>
                    <a:srgbClr val="FFFFFF"/>
                  </a:solidFill>
                  <a:latin typeface="Rubik" panose="020B0604020202020204" charset="-79"/>
                  <a:ea typeface="TT Travels Bold"/>
                  <a:cs typeface="Rubik" panose="020B0604020202020204" charset="-79"/>
                  <a:sym typeface="TT Travels Bold"/>
                </a:rPr>
                <a:t>Purchase</a:t>
              </a: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9C4B710-938A-A8DC-8836-8EB3F4A782DC}"/>
                </a:ext>
              </a:extLst>
            </p:cNvPr>
            <p:cNvSpPr txBox="1"/>
            <p:nvPr/>
          </p:nvSpPr>
          <p:spPr>
            <a:xfrm>
              <a:off x="9209990" y="5670504"/>
              <a:ext cx="1984248" cy="10393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1600" dirty="0">
                  <a:solidFill>
                    <a:srgbClr val="FFFFFF"/>
                  </a:solidFill>
                  <a:latin typeface="Rubik" panose="020B0604020202020204" charset="-79"/>
                  <a:ea typeface="DM Sans"/>
                  <a:cs typeface="Rubik" panose="020B0604020202020204" charset="-79"/>
                  <a:sym typeface="DM Sans"/>
                </a:rPr>
                <a:t>Browses, and add items to wish-list or  cart; Checks out.</a:t>
              </a: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36A09D31-81E7-55A8-3F60-FF274F75B5D4}"/>
                </a:ext>
              </a:extLst>
            </p:cNvPr>
            <p:cNvGrpSpPr/>
            <p:nvPr/>
          </p:nvGrpSpPr>
          <p:grpSpPr>
            <a:xfrm>
              <a:off x="9397442" y="7258003"/>
              <a:ext cx="1609344" cy="1135326"/>
              <a:chOff x="9397442" y="7281661"/>
              <a:chExt cx="1609344" cy="1135326"/>
            </a:xfrm>
          </p:grpSpPr>
          <p:grpSp>
            <p:nvGrpSpPr>
              <p:cNvPr id="24" name="Group 24">
                <a:extLst>
                  <a:ext uri="{FF2B5EF4-FFF2-40B4-BE49-F238E27FC236}">
                    <a16:creationId xmlns:a16="http://schemas.microsoft.com/office/drawing/2014/main" id="{01A4C589-C785-D5E6-1653-49CC3703F33D}"/>
                  </a:ext>
                </a:extLst>
              </p:cNvPr>
              <p:cNvGrpSpPr/>
              <p:nvPr/>
            </p:nvGrpSpPr>
            <p:grpSpPr>
              <a:xfrm>
                <a:off x="9397442" y="7281661"/>
                <a:ext cx="1609344" cy="1135326"/>
                <a:chOff x="0" y="0"/>
                <a:chExt cx="660943" cy="299016"/>
              </a:xfrm>
            </p:grpSpPr>
            <p:sp>
              <p:nvSpPr>
                <p:cNvPr id="25" name="Freeform 25">
                  <a:extLst>
                    <a:ext uri="{FF2B5EF4-FFF2-40B4-BE49-F238E27FC236}">
                      <a16:creationId xmlns:a16="http://schemas.microsoft.com/office/drawing/2014/main" id="{7B9D7D96-D83B-89EA-1AE7-01D5B6D5286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0943" cy="299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943" h="299016">
                      <a:moveTo>
                        <a:pt x="0" y="0"/>
                      </a:moveTo>
                      <a:lnTo>
                        <a:pt x="660943" y="0"/>
                      </a:lnTo>
                      <a:lnTo>
                        <a:pt x="660943" y="299016"/>
                      </a:lnTo>
                      <a:lnTo>
                        <a:pt x="0" y="299016"/>
                      </a:lnTo>
                      <a:close/>
                    </a:path>
                  </a:pathLst>
                </a:custGeom>
                <a:ln w="19050" cap="sq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>
                    <a:latin typeface="Rubik" panose="020B0604020202020204" charset="-79"/>
                    <a:cs typeface="Rubik" panose="020B0604020202020204" charset="-79"/>
                  </a:endParaRPr>
                </a:p>
              </p:txBody>
            </p:sp>
            <p:sp>
              <p:nvSpPr>
                <p:cNvPr id="26" name="TextBox 26">
                  <a:extLst>
                    <a:ext uri="{FF2B5EF4-FFF2-40B4-BE49-F238E27FC236}">
                      <a16:creationId xmlns:a16="http://schemas.microsoft.com/office/drawing/2014/main" id="{E7C27E6A-82B8-6A4C-72D3-B4EFD9EA804F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660943" cy="337116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  <a:spcBef>
                      <a:spcPct val="0"/>
                    </a:spcBef>
                  </a:pPr>
                  <a:endParaRPr>
                    <a:latin typeface="Rubik" panose="020B0604020202020204" charset="-79"/>
                    <a:cs typeface="Rubik" panose="020B0604020202020204" charset="-79"/>
                  </a:endParaRPr>
                </a:p>
              </p:txBody>
            </p:sp>
          </p:grp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8D4935AF-B56B-A6F9-B5BF-150314B4F189}"/>
                  </a:ext>
                </a:extLst>
              </p:cNvPr>
              <p:cNvSpPr txBox="1"/>
              <p:nvPr/>
            </p:nvSpPr>
            <p:spPr>
              <a:xfrm>
                <a:off x="9461450" y="7512437"/>
                <a:ext cx="1481328" cy="67377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1814"/>
                  </a:lnSpc>
                </a:pPr>
                <a:r>
                  <a:rPr lang="en-US" sz="1200" dirty="0">
                    <a:solidFill>
                      <a:srgbClr val="FFFFFF"/>
                    </a:solidFill>
                    <a:latin typeface="Rubik" panose="020B0604020202020204" charset="-79"/>
                    <a:ea typeface="Rubik"/>
                    <a:cs typeface="Rubik" panose="020B0604020202020204" charset="-79"/>
                    <a:sym typeface="Rubik"/>
                  </a:rPr>
                  <a:t>Hidden fees, failed promos, and unreliable delivery </a:t>
                </a:r>
              </a:p>
            </p:txBody>
          </p:sp>
        </p:grp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EFD32E5-5D81-560D-6617-6E1905ECBBC1}"/>
                </a:ext>
              </a:extLst>
            </p:cNvPr>
            <p:cNvSpPr txBox="1"/>
            <p:nvPr/>
          </p:nvSpPr>
          <p:spPr>
            <a:xfrm>
              <a:off x="6944566" y="4791537"/>
              <a:ext cx="1938528" cy="289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83"/>
                </a:lnSpc>
              </a:pPr>
              <a:r>
                <a:rPr lang="en-US" sz="2400" spc="-91" dirty="0">
                  <a:solidFill>
                    <a:srgbClr val="FFFFFF"/>
                  </a:solidFill>
                  <a:latin typeface="Rubik" panose="020B0604020202020204" charset="-79"/>
                  <a:ea typeface="TT Travels Bold"/>
                  <a:cs typeface="Rubik" panose="020B0604020202020204" charset="-79"/>
                  <a:sym typeface="TT Travels Bold"/>
                </a:rPr>
                <a:t>Engagement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47DE1C8C-ED55-B706-DD58-63B5E45175DD}"/>
                </a:ext>
              </a:extLst>
            </p:cNvPr>
            <p:cNvSpPr txBox="1"/>
            <p:nvPr/>
          </p:nvSpPr>
          <p:spPr>
            <a:xfrm>
              <a:off x="6921706" y="5670504"/>
              <a:ext cx="1984248" cy="1398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1600" dirty="0">
                  <a:solidFill>
                    <a:srgbClr val="FFFFFF"/>
                  </a:solidFill>
                  <a:latin typeface="Rubik" panose="020B0604020202020204" charset="-79"/>
                  <a:ea typeface="DM Sans"/>
                  <a:cs typeface="Rubik" panose="020B0604020202020204" charset="-79"/>
                  <a:sym typeface="DM Sans"/>
                </a:rPr>
                <a:t>Receive emails, SMS, ads &amp; wish-list alerts designed to bring them back.</a:t>
              </a:r>
            </a:p>
          </p:txBody>
        </p: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08BF3C22-0A5A-8175-A09A-B84E10DA4BE1}"/>
                </a:ext>
              </a:extLst>
            </p:cNvPr>
            <p:cNvGrpSpPr/>
            <p:nvPr/>
          </p:nvGrpSpPr>
          <p:grpSpPr>
            <a:xfrm>
              <a:off x="7098692" y="7258003"/>
              <a:ext cx="1609344" cy="1135326"/>
              <a:chOff x="7098692" y="7260978"/>
              <a:chExt cx="1609344" cy="1135326"/>
            </a:xfrm>
          </p:grpSpPr>
          <p:grpSp>
            <p:nvGrpSpPr>
              <p:cNvPr id="28" name="Group 28">
                <a:extLst>
                  <a:ext uri="{FF2B5EF4-FFF2-40B4-BE49-F238E27FC236}">
                    <a16:creationId xmlns:a16="http://schemas.microsoft.com/office/drawing/2014/main" id="{13E12A71-7E35-3558-E260-8A9E43685E5D}"/>
                  </a:ext>
                </a:extLst>
              </p:cNvPr>
              <p:cNvGrpSpPr/>
              <p:nvPr/>
            </p:nvGrpSpPr>
            <p:grpSpPr>
              <a:xfrm>
                <a:off x="7098692" y="7260978"/>
                <a:ext cx="1609344" cy="1135326"/>
                <a:chOff x="0" y="0"/>
                <a:chExt cx="660943" cy="299016"/>
              </a:xfrm>
            </p:grpSpPr>
            <p:sp>
              <p:nvSpPr>
                <p:cNvPr id="29" name="Freeform 29">
                  <a:extLst>
                    <a:ext uri="{FF2B5EF4-FFF2-40B4-BE49-F238E27FC236}">
                      <a16:creationId xmlns:a16="http://schemas.microsoft.com/office/drawing/2014/main" id="{65A5FA7B-FF7F-2279-748F-F290EA68DD8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0943" cy="299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943" h="299016">
                      <a:moveTo>
                        <a:pt x="0" y="0"/>
                      </a:moveTo>
                      <a:lnTo>
                        <a:pt x="660943" y="0"/>
                      </a:lnTo>
                      <a:lnTo>
                        <a:pt x="660943" y="299016"/>
                      </a:lnTo>
                      <a:lnTo>
                        <a:pt x="0" y="299016"/>
                      </a:lnTo>
                      <a:close/>
                    </a:path>
                  </a:pathLst>
                </a:custGeom>
                <a:ln w="19050" cap="sq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>
                    <a:latin typeface="Rubik" panose="020B0604020202020204" charset="-79"/>
                    <a:cs typeface="Rubik" panose="020B0604020202020204" charset="-79"/>
                  </a:endParaRPr>
                </a:p>
              </p:txBody>
            </p:sp>
            <p:sp>
              <p:nvSpPr>
                <p:cNvPr id="30" name="TextBox 30">
                  <a:extLst>
                    <a:ext uri="{FF2B5EF4-FFF2-40B4-BE49-F238E27FC236}">
                      <a16:creationId xmlns:a16="http://schemas.microsoft.com/office/drawing/2014/main" id="{B5062C68-DAF1-03E9-4B0F-CDA49ED61B83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660943" cy="337116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  <a:spcBef>
                      <a:spcPct val="0"/>
                    </a:spcBef>
                  </a:pPr>
                  <a:endParaRPr>
                    <a:latin typeface="Rubik" panose="020B0604020202020204" charset="-79"/>
                    <a:cs typeface="Rubik" panose="020B0604020202020204" charset="-79"/>
                  </a:endParaRPr>
                </a:p>
              </p:txBody>
            </p:sp>
          </p:grpSp>
          <p:sp>
            <p:nvSpPr>
              <p:cNvPr id="31" name="TextBox 31">
                <a:extLst>
                  <a:ext uri="{FF2B5EF4-FFF2-40B4-BE49-F238E27FC236}">
                    <a16:creationId xmlns:a16="http://schemas.microsoft.com/office/drawing/2014/main" id="{097BF4CA-C195-478C-EDC4-170CB1B60E5B}"/>
                  </a:ext>
                </a:extLst>
              </p:cNvPr>
              <p:cNvSpPr txBox="1"/>
              <p:nvPr/>
            </p:nvSpPr>
            <p:spPr>
              <a:xfrm>
                <a:off x="7162700" y="7491754"/>
                <a:ext cx="1481328" cy="67377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1814"/>
                  </a:lnSpc>
                </a:pPr>
                <a:r>
                  <a:rPr lang="en-US" sz="1200" dirty="0">
                    <a:solidFill>
                      <a:srgbClr val="FFFFFF"/>
                    </a:solidFill>
                    <a:latin typeface="Rubik" panose="020B0604020202020204" charset="-79"/>
                    <a:ea typeface="Rubik"/>
                    <a:cs typeface="Rubik" panose="020B0604020202020204" charset="-79"/>
                    <a:sym typeface="Rubik"/>
                  </a:rPr>
                  <a:t>Too many irrelevant messages at the wrong time</a:t>
                </a:r>
              </a:p>
            </p:txBody>
          </p:sp>
        </p:grp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15DC50A-3EC5-270D-860C-0C443D49A603}"/>
                </a:ext>
              </a:extLst>
            </p:cNvPr>
            <p:cNvSpPr txBox="1"/>
            <p:nvPr/>
          </p:nvSpPr>
          <p:spPr>
            <a:xfrm>
              <a:off x="2343966" y="4791537"/>
              <a:ext cx="1938528" cy="289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83"/>
                </a:lnSpc>
              </a:pPr>
              <a:r>
                <a:rPr lang="en-US" sz="2400" spc="-91" dirty="0">
                  <a:solidFill>
                    <a:srgbClr val="FFFFFF"/>
                  </a:solidFill>
                  <a:latin typeface="Rubik" panose="020B0604020202020204" charset="-79"/>
                  <a:ea typeface="TT Travels Bold"/>
                  <a:cs typeface="Rubik" panose="020B0604020202020204" charset="-79"/>
                  <a:sym typeface="TT Travels Bold"/>
                </a:rPr>
                <a:t>Consideration</a:t>
              </a: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4F0A7E-A095-6CDE-EB5C-D69D860DC485}"/>
                </a:ext>
              </a:extLst>
            </p:cNvPr>
            <p:cNvSpPr txBox="1"/>
            <p:nvPr/>
          </p:nvSpPr>
          <p:spPr>
            <a:xfrm>
              <a:off x="2321106" y="5670504"/>
              <a:ext cx="1984248" cy="701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1600" dirty="0">
                  <a:solidFill>
                    <a:srgbClr val="FFFFFF"/>
                  </a:solidFill>
                  <a:latin typeface="Rubik" panose="020B0604020202020204" charset="-79"/>
                  <a:ea typeface="DM Sans"/>
                  <a:cs typeface="Rubik" panose="020B0604020202020204" charset="-79"/>
                  <a:sym typeface="DM Sans"/>
                </a:rPr>
                <a:t>Browses website and reads reviews.</a:t>
              </a:r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F0030614-C2EE-CC80-0DCD-896A7C426BB9}"/>
                </a:ext>
              </a:extLst>
            </p:cNvPr>
            <p:cNvGrpSpPr/>
            <p:nvPr/>
          </p:nvGrpSpPr>
          <p:grpSpPr>
            <a:xfrm>
              <a:off x="2508558" y="7258003"/>
              <a:ext cx="1609344" cy="1145734"/>
              <a:chOff x="2508558" y="7258004"/>
              <a:chExt cx="1609344" cy="1145734"/>
            </a:xfrm>
          </p:grpSpPr>
          <p:grpSp>
            <p:nvGrpSpPr>
              <p:cNvPr id="32" name="Group 32">
                <a:extLst>
                  <a:ext uri="{FF2B5EF4-FFF2-40B4-BE49-F238E27FC236}">
                    <a16:creationId xmlns:a16="http://schemas.microsoft.com/office/drawing/2014/main" id="{6236A0A9-23F9-0432-4F1F-6A696B38FDF9}"/>
                  </a:ext>
                </a:extLst>
              </p:cNvPr>
              <p:cNvGrpSpPr/>
              <p:nvPr/>
            </p:nvGrpSpPr>
            <p:grpSpPr>
              <a:xfrm>
                <a:off x="2508558" y="7258004"/>
                <a:ext cx="1609344" cy="1145734"/>
                <a:chOff x="0" y="0"/>
                <a:chExt cx="660943" cy="299016"/>
              </a:xfrm>
            </p:grpSpPr>
            <p:sp>
              <p:nvSpPr>
                <p:cNvPr id="33" name="Freeform 33">
                  <a:extLst>
                    <a:ext uri="{FF2B5EF4-FFF2-40B4-BE49-F238E27FC236}">
                      <a16:creationId xmlns:a16="http://schemas.microsoft.com/office/drawing/2014/main" id="{2CC7C46E-CE16-639D-1719-0D3F40CFBC4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0943" cy="299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943" h="299016">
                      <a:moveTo>
                        <a:pt x="0" y="0"/>
                      </a:moveTo>
                      <a:lnTo>
                        <a:pt x="660943" y="0"/>
                      </a:lnTo>
                      <a:lnTo>
                        <a:pt x="660943" y="299016"/>
                      </a:lnTo>
                      <a:lnTo>
                        <a:pt x="0" y="299016"/>
                      </a:lnTo>
                      <a:close/>
                    </a:path>
                  </a:pathLst>
                </a:custGeom>
                <a:ln w="19050" cap="sq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>
                    <a:latin typeface="Rubik" panose="020B0604020202020204" charset="-79"/>
                    <a:cs typeface="Rubik" panose="020B0604020202020204" charset="-79"/>
                  </a:endParaRPr>
                </a:p>
              </p:txBody>
            </p:sp>
            <p:sp>
              <p:nvSpPr>
                <p:cNvPr id="34" name="TextBox 34">
                  <a:extLst>
                    <a:ext uri="{FF2B5EF4-FFF2-40B4-BE49-F238E27FC236}">
                      <a16:creationId xmlns:a16="http://schemas.microsoft.com/office/drawing/2014/main" id="{4C0A289C-5DFE-0184-761D-A501073161D4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660943" cy="337116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  <a:spcBef>
                      <a:spcPct val="0"/>
                    </a:spcBef>
                  </a:pPr>
                  <a:endParaRPr>
                    <a:latin typeface="Rubik" panose="020B0604020202020204" charset="-79"/>
                    <a:cs typeface="Rubik" panose="020B0604020202020204" charset="-79"/>
                  </a:endParaRPr>
                </a:p>
              </p:txBody>
            </p:sp>
          </p:grpSp>
          <p:sp>
            <p:nvSpPr>
              <p:cNvPr id="35" name="TextBox 35">
                <a:extLst>
                  <a:ext uri="{FF2B5EF4-FFF2-40B4-BE49-F238E27FC236}">
                    <a16:creationId xmlns:a16="http://schemas.microsoft.com/office/drawing/2014/main" id="{267AD103-74C1-E326-659E-9325F6FB3B2E}"/>
                  </a:ext>
                </a:extLst>
              </p:cNvPr>
              <p:cNvSpPr txBox="1"/>
              <p:nvPr/>
            </p:nvSpPr>
            <p:spPr>
              <a:xfrm>
                <a:off x="2572566" y="7378568"/>
                <a:ext cx="1481328" cy="90460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1814"/>
                  </a:lnSpc>
                </a:pPr>
                <a:r>
                  <a:rPr lang="en-US" sz="1200" dirty="0">
                    <a:solidFill>
                      <a:srgbClr val="FFFFFF"/>
                    </a:solidFill>
                    <a:latin typeface="Rubik" panose="020B0604020202020204" charset="-79"/>
                    <a:ea typeface="Rubik"/>
                    <a:cs typeface="Rubik" panose="020B0604020202020204" charset="-79"/>
                    <a:sym typeface="Rubik"/>
                  </a:rPr>
                  <a:t>App instability, poor UI/CX, negative reviews, irrelevant offerings</a:t>
                </a:r>
              </a:p>
            </p:txBody>
          </p:sp>
        </p:grp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E96B89F-83D5-B164-9148-8D257E5B8F6B}"/>
                </a:ext>
              </a:extLst>
            </p:cNvPr>
            <p:cNvSpPr txBox="1"/>
            <p:nvPr/>
          </p:nvSpPr>
          <p:spPr>
            <a:xfrm>
              <a:off x="4684030" y="4791537"/>
              <a:ext cx="1938528" cy="289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83"/>
                </a:lnSpc>
              </a:pPr>
              <a:r>
                <a:rPr lang="en-US" sz="2400" spc="-91" dirty="0">
                  <a:solidFill>
                    <a:srgbClr val="FFFFFF"/>
                  </a:solidFill>
                  <a:latin typeface="Rubik" panose="020B0604020202020204" charset="-79"/>
                  <a:ea typeface="TT Travels Bold"/>
                  <a:cs typeface="Rubik" panose="020B0604020202020204" charset="-79"/>
                  <a:sym typeface="TT Travels Bold"/>
                </a:rPr>
                <a:t>Acquisition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EB848D48-2BDE-767D-F3BB-FAADD31F93E2}"/>
                </a:ext>
              </a:extLst>
            </p:cNvPr>
            <p:cNvSpPr txBox="1"/>
            <p:nvPr/>
          </p:nvSpPr>
          <p:spPr>
            <a:xfrm>
              <a:off x="4661170" y="5670504"/>
              <a:ext cx="1984248" cy="1054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1600" dirty="0">
                  <a:solidFill>
                    <a:srgbClr val="FFFFFF"/>
                  </a:solidFill>
                  <a:latin typeface="Rubik" panose="020B0604020202020204" charset="-79"/>
                  <a:ea typeface="DM Sans"/>
                  <a:cs typeface="Rubik" panose="020B0604020202020204" charset="-79"/>
                  <a:sym typeface="DM Sans"/>
                </a:rPr>
                <a:t>Creates an account; </a:t>
              </a:r>
              <a:r>
                <a:rPr lang="en-US" sz="1600" dirty="0" err="1">
                  <a:solidFill>
                    <a:srgbClr val="FFFFFF"/>
                  </a:solidFill>
                  <a:latin typeface="Rubik" panose="020B0604020202020204" charset="-79"/>
                  <a:ea typeface="DM Sans"/>
                  <a:cs typeface="Rubik" panose="020B0604020202020204" charset="-79"/>
                  <a:sym typeface="DM Sans"/>
                </a:rPr>
                <a:t>Opts</a:t>
              </a:r>
              <a:r>
                <a:rPr lang="en-US" sz="1600" dirty="0">
                  <a:solidFill>
                    <a:srgbClr val="FFFFFF"/>
                  </a:solidFill>
                  <a:latin typeface="Rubik" panose="020B0604020202020204" charset="-79"/>
                  <a:ea typeface="DM Sans"/>
                  <a:cs typeface="Rubik" panose="020B0604020202020204" charset="-79"/>
                  <a:sym typeface="DM Sans"/>
                </a:rPr>
                <a:t> into communications.</a:t>
              </a:r>
            </a:p>
          </p:txBody>
        </p: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1081E806-E5B4-024C-3650-F23159CB9635}"/>
                </a:ext>
              </a:extLst>
            </p:cNvPr>
            <p:cNvGrpSpPr/>
            <p:nvPr/>
          </p:nvGrpSpPr>
          <p:grpSpPr>
            <a:xfrm>
              <a:off x="4848622" y="7258003"/>
              <a:ext cx="1609344" cy="1135327"/>
              <a:chOff x="4848622" y="7258003"/>
              <a:chExt cx="1609344" cy="1135327"/>
            </a:xfrm>
          </p:grpSpPr>
          <p:grpSp>
            <p:nvGrpSpPr>
              <p:cNvPr id="36" name="Group 36">
                <a:extLst>
                  <a:ext uri="{FF2B5EF4-FFF2-40B4-BE49-F238E27FC236}">
                    <a16:creationId xmlns:a16="http://schemas.microsoft.com/office/drawing/2014/main" id="{7A34D2BE-3576-8FA5-3E09-78B817CA1738}"/>
                  </a:ext>
                </a:extLst>
              </p:cNvPr>
              <p:cNvGrpSpPr/>
              <p:nvPr/>
            </p:nvGrpSpPr>
            <p:grpSpPr>
              <a:xfrm>
                <a:off x="4848622" y="7258003"/>
                <a:ext cx="1609344" cy="1135327"/>
                <a:chOff x="0" y="0"/>
                <a:chExt cx="660943" cy="299016"/>
              </a:xfrm>
            </p:grpSpPr>
            <p:sp>
              <p:nvSpPr>
                <p:cNvPr id="37" name="Freeform 37">
                  <a:extLst>
                    <a:ext uri="{FF2B5EF4-FFF2-40B4-BE49-F238E27FC236}">
                      <a16:creationId xmlns:a16="http://schemas.microsoft.com/office/drawing/2014/main" id="{5E7CD7A6-EB48-38CE-3B3A-1C9ABB81210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0943" cy="299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943" h="299016">
                      <a:moveTo>
                        <a:pt x="0" y="0"/>
                      </a:moveTo>
                      <a:lnTo>
                        <a:pt x="660943" y="0"/>
                      </a:lnTo>
                      <a:lnTo>
                        <a:pt x="660943" y="299016"/>
                      </a:lnTo>
                      <a:lnTo>
                        <a:pt x="0" y="299016"/>
                      </a:lnTo>
                      <a:close/>
                    </a:path>
                  </a:pathLst>
                </a:custGeom>
                <a:ln w="19050" cap="sq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>
                    <a:latin typeface="Rubik" panose="020B0604020202020204" charset="-79"/>
                    <a:cs typeface="Rubik" panose="020B0604020202020204" charset="-79"/>
                  </a:endParaRPr>
                </a:p>
              </p:txBody>
            </p:sp>
            <p:sp>
              <p:nvSpPr>
                <p:cNvPr id="38" name="TextBox 38">
                  <a:extLst>
                    <a:ext uri="{FF2B5EF4-FFF2-40B4-BE49-F238E27FC236}">
                      <a16:creationId xmlns:a16="http://schemas.microsoft.com/office/drawing/2014/main" id="{26EDCDB5-383B-82E7-25E7-EDF88E6A562C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660943" cy="337116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  <a:spcBef>
                      <a:spcPct val="0"/>
                    </a:spcBef>
                  </a:pPr>
                  <a:endParaRPr>
                    <a:latin typeface="Rubik" panose="020B0604020202020204" charset="-79"/>
                    <a:cs typeface="Rubik" panose="020B0604020202020204" charset="-79"/>
                  </a:endParaRPr>
                </a:p>
              </p:txBody>
            </p:sp>
          </p:grpSp>
          <p:sp>
            <p:nvSpPr>
              <p:cNvPr id="39" name="TextBox 39">
                <a:extLst>
                  <a:ext uri="{FF2B5EF4-FFF2-40B4-BE49-F238E27FC236}">
                    <a16:creationId xmlns:a16="http://schemas.microsoft.com/office/drawing/2014/main" id="{B0E77B22-4156-ECFC-521B-EF1F4EA53A50}"/>
                  </a:ext>
                </a:extLst>
              </p:cNvPr>
              <p:cNvSpPr txBox="1"/>
              <p:nvPr/>
            </p:nvSpPr>
            <p:spPr>
              <a:xfrm>
                <a:off x="4912630" y="7604195"/>
                <a:ext cx="1481328" cy="44294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1814"/>
                  </a:lnSpc>
                </a:pPr>
                <a:r>
                  <a:rPr lang="en-US" sz="1200" dirty="0">
                    <a:solidFill>
                      <a:srgbClr val="FFFFFF"/>
                    </a:solidFill>
                    <a:latin typeface="Rubik" panose="020B0604020202020204" charset="-79"/>
                    <a:ea typeface="Rubik"/>
                    <a:cs typeface="Rubik" panose="020B0604020202020204" charset="-79"/>
                    <a:sym typeface="Rubik"/>
                  </a:rPr>
                  <a:t>Card required at time of subscription</a:t>
                </a:r>
              </a:p>
            </p:txBody>
          </p:sp>
        </p:grpSp>
        <p:sp>
          <p:nvSpPr>
            <p:cNvPr id="93" name="TextBox 7">
              <a:extLst>
                <a:ext uri="{FF2B5EF4-FFF2-40B4-BE49-F238E27FC236}">
                  <a16:creationId xmlns:a16="http://schemas.microsoft.com/office/drawing/2014/main" id="{6E47E444-3B42-119F-1AF9-260A8F45403D}"/>
                </a:ext>
              </a:extLst>
            </p:cNvPr>
            <p:cNvSpPr txBox="1"/>
            <p:nvPr/>
          </p:nvSpPr>
          <p:spPr>
            <a:xfrm>
              <a:off x="11339842" y="4791537"/>
              <a:ext cx="2258499" cy="2895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3"/>
                </a:lnSpc>
              </a:pPr>
              <a:r>
                <a:rPr lang="en-US" sz="2400" spc="-91" dirty="0">
                  <a:solidFill>
                    <a:srgbClr val="FFFFFF"/>
                  </a:solidFill>
                  <a:latin typeface="Rubik" panose="020B0604020202020204" charset="-79"/>
                  <a:ea typeface="TT Travels Bold"/>
                  <a:cs typeface="Rubik" panose="020B0604020202020204" charset="-79"/>
                  <a:sym typeface="TT Travels Bold"/>
                </a:rPr>
                <a:t>Post-Purchase</a:t>
              </a:r>
            </a:p>
          </p:txBody>
        </p:sp>
        <p:sp>
          <p:nvSpPr>
            <p:cNvPr id="95" name="TextBox 9">
              <a:extLst>
                <a:ext uri="{FF2B5EF4-FFF2-40B4-BE49-F238E27FC236}">
                  <a16:creationId xmlns:a16="http://schemas.microsoft.com/office/drawing/2014/main" id="{93265784-1B8B-5B81-C1AF-F9DB8BBD8202}"/>
                </a:ext>
              </a:extLst>
            </p:cNvPr>
            <p:cNvSpPr txBox="1"/>
            <p:nvPr/>
          </p:nvSpPr>
          <p:spPr>
            <a:xfrm>
              <a:off x="11476967" y="5670504"/>
              <a:ext cx="1984248" cy="1054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Rubik" panose="020B0604020202020204" charset="-79"/>
                  <a:ea typeface="DM Sans"/>
                  <a:cs typeface="Rubik" panose="020B0604020202020204" charset="-79"/>
                  <a:sym typeface="DM Sans"/>
                </a:rPr>
                <a:t>Receives product;</a:t>
              </a:r>
            </a:p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1600" dirty="0">
                  <a:solidFill>
                    <a:srgbClr val="FFFFFF"/>
                  </a:solidFill>
                  <a:latin typeface="Rubik" panose="020B0604020202020204" charset="-79"/>
                  <a:ea typeface="DM Sans"/>
                  <a:cs typeface="Rubik" panose="020B0604020202020204" charset="-79"/>
                  <a:sym typeface="DM Sans"/>
                </a:rPr>
                <a:t>May leave a review or share on socials.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E7853B26-0620-D3A6-0BF0-CC17456EF8FD}"/>
                </a:ext>
              </a:extLst>
            </p:cNvPr>
            <p:cNvGrpSpPr/>
            <p:nvPr/>
          </p:nvGrpSpPr>
          <p:grpSpPr>
            <a:xfrm>
              <a:off x="11664419" y="7258003"/>
              <a:ext cx="1609344" cy="1135326"/>
              <a:chOff x="11664419" y="7258004"/>
              <a:chExt cx="1609344" cy="1135326"/>
            </a:xfrm>
          </p:grpSpPr>
          <p:grpSp>
            <p:nvGrpSpPr>
              <p:cNvPr id="99" name="Group 14">
                <a:extLst>
                  <a:ext uri="{FF2B5EF4-FFF2-40B4-BE49-F238E27FC236}">
                    <a16:creationId xmlns:a16="http://schemas.microsoft.com/office/drawing/2014/main" id="{A0E996B4-0FD7-8AEA-AF35-69F923FBC193}"/>
                  </a:ext>
                </a:extLst>
              </p:cNvPr>
              <p:cNvGrpSpPr/>
              <p:nvPr/>
            </p:nvGrpSpPr>
            <p:grpSpPr>
              <a:xfrm>
                <a:off x="11664419" y="7258004"/>
                <a:ext cx="1609344" cy="1135326"/>
                <a:chOff x="0" y="0"/>
                <a:chExt cx="660943" cy="299016"/>
              </a:xfrm>
            </p:grpSpPr>
            <p:sp>
              <p:nvSpPr>
                <p:cNvPr id="109" name="Freeform 15">
                  <a:extLst>
                    <a:ext uri="{FF2B5EF4-FFF2-40B4-BE49-F238E27FC236}">
                      <a16:creationId xmlns:a16="http://schemas.microsoft.com/office/drawing/2014/main" id="{98BC9F33-6C7B-2D5E-6BC9-FF349902CD2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0943" cy="299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943" h="299016">
                      <a:moveTo>
                        <a:pt x="0" y="0"/>
                      </a:moveTo>
                      <a:lnTo>
                        <a:pt x="660943" y="0"/>
                      </a:lnTo>
                      <a:lnTo>
                        <a:pt x="660943" y="299016"/>
                      </a:lnTo>
                      <a:lnTo>
                        <a:pt x="0" y="299016"/>
                      </a:lnTo>
                      <a:close/>
                    </a:path>
                  </a:pathLst>
                </a:custGeom>
                <a:ln w="19050" cap="sq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>
                    <a:latin typeface="Rubik" panose="020B0604020202020204" charset="-79"/>
                    <a:cs typeface="Rubik" panose="020B0604020202020204" charset="-79"/>
                  </a:endParaRPr>
                </a:p>
              </p:txBody>
            </p:sp>
            <p:sp>
              <p:nvSpPr>
                <p:cNvPr id="110" name="TextBox 16">
                  <a:extLst>
                    <a:ext uri="{FF2B5EF4-FFF2-40B4-BE49-F238E27FC236}">
                      <a16:creationId xmlns:a16="http://schemas.microsoft.com/office/drawing/2014/main" id="{20DAB438-D63A-4CAF-28F0-8F92A0ABBEBE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660943" cy="337116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  <a:spcBef>
                      <a:spcPct val="0"/>
                    </a:spcBef>
                  </a:pPr>
                  <a:endParaRPr>
                    <a:latin typeface="Rubik" panose="020B0604020202020204" charset="-79"/>
                    <a:cs typeface="Rubik" panose="020B0604020202020204" charset="-79"/>
                  </a:endParaRPr>
                </a:p>
              </p:txBody>
            </p:sp>
          </p:grpSp>
          <p:sp>
            <p:nvSpPr>
              <p:cNvPr id="100" name="TextBox 17">
                <a:extLst>
                  <a:ext uri="{FF2B5EF4-FFF2-40B4-BE49-F238E27FC236}">
                    <a16:creationId xmlns:a16="http://schemas.microsoft.com/office/drawing/2014/main" id="{79381966-FAAD-77F8-315F-CBFBA542F27E}"/>
                  </a:ext>
                </a:extLst>
              </p:cNvPr>
              <p:cNvSpPr txBox="1"/>
              <p:nvPr/>
            </p:nvSpPr>
            <p:spPr>
              <a:xfrm>
                <a:off x="11728427" y="7373364"/>
                <a:ext cx="1481328" cy="90460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1814"/>
                  </a:lnSpc>
                </a:pPr>
                <a:r>
                  <a:rPr lang="en-US" sz="1200" dirty="0">
                    <a:solidFill>
                      <a:srgbClr val="FFFFFF"/>
                    </a:solidFill>
                    <a:latin typeface="Rubik" panose="020B0604020202020204" charset="-79"/>
                    <a:ea typeface="Rubik"/>
                    <a:cs typeface="Rubik" panose="020B0604020202020204" charset="-79"/>
                    <a:sym typeface="Rubik"/>
                  </a:rPr>
                  <a:t>Damaged or misrepresented product, late or missing delivery </a:t>
                </a:r>
              </a:p>
            </p:txBody>
          </p:sp>
        </p:grpSp>
        <p:sp>
          <p:nvSpPr>
            <p:cNvPr id="96" name="TextBox 10">
              <a:extLst>
                <a:ext uri="{FF2B5EF4-FFF2-40B4-BE49-F238E27FC236}">
                  <a16:creationId xmlns:a16="http://schemas.microsoft.com/office/drawing/2014/main" id="{3993BA05-74E7-18B6-49DA-A0C909656E69}"/>
                </a:ext>
              </a:extLst>
            </p:cNvPr>
            <p:cNvSpPr txBox="1"/>
            <p:nvPr/>
          </p:nvSpPr>
          <p:spPr>
            <a:xfrm>
              <a:off x="13657699" y="5670504"/>
              <a:ext cx="1984248" cy="1398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1600" dirty="0">
                  <a:solidFill>
                    <a:srgbClr val="FFFFFF"/>
                  </a:solidFill>
                  <a:latin typeface="Rubik" panose="020B0604020202020204" charset="-79"/>
                  <a:ea typeface="DM Sans"/>
                  <a:cs typeface="Rubik" panose="020B0604020202020204" charset="-79"/>
                  <a:sym typeface="DM Sans"/>
                </a:rPr>
                <a:t>Experiences issues; Attempts to resolve before escalating to email or phone. </a:t>
              </a:r>
            </a:p>
          </p:txBody>
        </p:sp>
        <p:sp>
          <p:nvSpPr>
            <p:cNvPr id="98" name="TextBox 13">
              <a:extLst>
                <a:ext uri="{FF2B5EF4-FFF2-40B4-BE49-F238E27FC236}">
                  <a16:creationId xmlns:a16="http://schemas.microsoft.com/office/drawing/2014/main" id="{EB2EB1A5-128A-3F7F-5DA3-15D5085128B5}"/>
                </a:ext>
              </a:extLst>
            </p:cNvPr>
            <p:cNvSpPr txBox="1"/>
            <p:nvPr/>
          </p:nvSpPr>
          <p:spPr>
            <a:xfrm>
              <a:off x="13680559" y="4791537"/>
              <a:ext cx="1938528" cy="289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83"/>
                </a:lnSpc>
              </a:pPr>
              <a:r>
                <a:rPr lang="en-US" sz="2400" spc="-91">
                  <a:solidFill>
                    <a:srgbClr val="FFFFFF"/>
                  </a:solidFill>
                  <a:latin typeface="Rubik" panose="020B0604020202020204" charset="-79"/>
                  <a:ea typeface="TT Travels Bold"/>
                  <a:cs typeface="Rubik" panose="020B0604020202020204" charset="-79"/>
                  <a:sym typeface="TT Travels Bold"/>
                </a:rPr>
                <a:t>Service</a:t>
              </a:r>
            </a:p>
          </p:txBody>
        </p: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66C660CF-D22E-74AF-D7FE-03B43E396AA7}"/>
                </a:ext>
              </a:extLst>
            </p:cNvPr>
            <p:cNvGrpSpPr/>
            <p:nvPr/>
          </p:nvGrpSpPr>
          <p:grpSpPr>
            <a:xfrm>
              <a:off x="13845151" y="7258003"/>
              <a:ext cx="1609344" cy="1135326"/>
              <a:chOff x="13845151" y="7258004"/>
              <a:chExt cx="1609344" cy="1135326"/>
            </a:xfrm>
          </p:grpSpPr>
          <p:grpSp>
            <p:nvGrpSpPr>
              <p:cNvPr id="101" name="Group 18">
                <a:extLst>
                  <a:ext uri="{FF2B5EF4-FFF2-40B4-BE49-F238E27FC236}">
                    <a16:creationId xmlns:a16="http://schemas.microsoft.com/office/drawing/2014/main" id="{6D5DEDB2-C34C-8FD2-0A11-60AEC036F878}"/>
                  </a:ext>
                </a:extLst>
              </p:cNvPr>
              <p:cNvGrpSpPr/>
              <p:nvPr/>
            </p:nvGrpSpPr>
            <p:grpSpPr>
              <a:xfrm>
                <a:off x="13845151" y="7258004"/>
                <a:ext cx="1609344" cy="1135326"/>
                <a:chOff x="0" y="0"/>
                <a:chExt cx="660943" cy="299016"/>
              </a:xfrm>
            </p:grpSpPr>
            <p:sp>
              <p:nvSpPr>
                <p:cNvPr id="107" name="Freeform 19">
                  <a:extLst>
                    <a:ext uri="{FF2B5EF4-FFF2-40B4-BE49-F238E27FC236}">
                      <a16:creationId xmlns:a16="http://schemas.microsoft.com/office/drawing/2014/main" id="{F6C4EFF9-9B90-BE3B-2760-231693C31CC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0943" cy="299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943" h="299016">
                      <a:moveTo>
                        <a:pt x="0" y="0"/>
                      </a:moveTo>
                      <a:lnTo>
                        <a:pt x="660943" y="0"/>
                      </a:lnTo>
                      <a:lnTo>
                        <a:pt x="660943" y="299016"/>
                      </a:lnTo>
                      <a:lnTo>
                        <a:pt x="0" y="299016"/>
                      </a:lnTo>
                      <a:close/>
                    </a:path>
                  </a:pathLst>
                </a:custGeom>
                <a:ln w="19050" cap="sq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>
                    <a:latin typeface="Rubik" panose="020B0604020202020204" charset="-79"/>
                    <a:cs typeface="Rubik" panose="020B0604020202020204" charset="-79"/>
                  </a:endParaRPr>
                </a:p>
              </p:txBody>
            </p:sp>
            <p:sp>
              <p:nvSpPr>
                <p:cNvPr id="108" name="TextBox 20">
                  <a:extLst>
                    <a:ext uri="{FF2B5EF4-FFF2-40B4-BE49-F238E27FC236}">
                      <a16:creationId xmlns:a16="http://schemas.microsoft.com/office/drawing/2014/main" id="{59BC34E6-C8E0-3407-4CEF-3767A9582EF8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660943" cy="337116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  <a:spcBef>
                      <a:spcPct val="0"/>
                    </a:spcBef>
                  </a:pPr>
                  <a:endParaRPr>
                    <a:latin typeface="Rubik" panose="020B0604020202020204" charset="-79"/>
                    <a:cs typeface="Rubik" panose="020B0604020202020204" charset="-79"/>
                  </a:endParaRPr>
                </a:p>
              </p:txBody>
            </p:sp>
          </p:grpSp>
          <p:sp>
            <p:nvSpPr>
              <p:cNvPr id="102" name="TextBox 21">
                <a:extLst>
                  <a:ext uri="{FF2B5EF4-FFF2-40B4-BE49-F238E27FC236}">
                    <a16:creationId xmlns:a16="http://schemas.microsoft.com/office/drawing/2014/main" id="{CE1A0F82-85E4-2B03-D97D-BFC97D959D41}"/>
                  </a:ext>
                </a:extLst>
              </p:cNvPr>
              <p:cNvSpPr txBox="1"/>
              <p:nvPr/>
            </p:nvSpPr>
            <p:spPr>
              <a:xfrm>
                <a:off x="13909159" y="7373364"/>
                <a:ext cx="1481328" cy="90460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1814"/>
                  </a:lnSpc>
                </a:pPr>
                <a:r>
                  <a:rPr lang="en-US" sz="1200" dirty="0">
                    <a:solidFill>
                      <a:srgbClr val="FFFFFF"/>
                    </a:solidFill>
                    <a:latin typeface="Rubik" panose="020B0604020202020204" charset="-79"/>
                    <a:ea typeface="Rubik"/>
                    <a:cs typeface="Rubik" panose="020B0604020202020204" charset="-79"/>
                    <a:sym typeface="Rubik"/>
                  </a:rPr>
                  <a:t>Long waits, unclear resolution path, &amp; cases closed without a fix</a:t>
                </a:r>
              </a:p>
            </p:txBody>
          </p:sp>
        </p:grpSp>
        <p:sp>
          <p:nvSpPr>
            <p:cNvPr id="94" name="TextBox 8">
              <a:extLst>
                <a:ext uri="{FF2B5EF4-FFF2-40B4-BE49-F238E27FC236}">
                  <a16:creationId xmlns:a16="http://schemas.microsoft.com/office/drawing/2014/main" id="{E4DBDF27-32A5-EF30-5D82-9703A9C50A43}"/>
                </a:ext>
              </a:extLst>
            </p:cNvPr>
            <p:cNvSpPr txBox="1"/>
            <p:nvPr/>
          </p:nvSpPr>
          <p:spPr>
            <a:xfrm>
              <a:off x="15973641" y="4791537"/>
              <a:ext cx="1938528" cy="289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83"/>
                </a:lnSpc>
              </a:pPr>
              <a:r>
                <a:rPr lang="en-US" sz="2400" spc="-91">
                  <a:solidFill>
                    <a:srgbClr val="FFFFFF"/>
                  </a:solidFill>
                  <a:latin typeface="Rubik" panose="020B0604020202020204" charset="-79"/>
                  <a:ea typeface="TT Travels Bold"/>
                  <a:cs typeface="Rubik" panose="020B0604020202020204" charset="-79"/>
                  <a:sym typeface="TT Travels Bold"/>
                </a:rPr>
                <a:t>Outcome</a:t>
              </a:r>
            </a:p>
          </p:txBody>
        </p:sp>
        <p:sp>
          <p:nvSpPr>
            <p:cNvPr id="97" name="TextBox 11">
              <a:extLst>
                <a:ext uri="{FF2B5EF4-FFF2-40B4-BE49-F238E27FC236}">
                  <a16:creationId xmlns:a16="http://schemas.microsoft.com/office/drawing/2014/main" id="{6DA8AB67-2E9C-5A15-4AA2-5FD83EE165E0}"/>
                </a:ext>
              </a:extLst>
            </p:cNvPr>
            <p:cNvSpPr txBox="1"/>
            <p:nvPr/>
          </p:nvSpPr>
          <p:spPr>
            <a:xfrm>
              <a:off x="15950781" y="5670504"/>
              <a:ext cx="1984248" cy="1398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1600" dirty="0">
                  <a:solidFill>
                    <a:srgbClr val="FFFFFF"/>
                  </a:solidFill>
                  <a:latin typeface="Rubik" panose="020B0604020202020204" charset="-79"/>
                  <a:ea typeface="DM Sans"/>
                  <a:cs typeface="Rubik" panose="020B0604020202020204" charset="-79"/>
                  <a:sym typeface="DM Sans"/>
                </a:rPr>
                <a:t>Decides to stay or unsubscribe due to personal reasons or poor experience.</a:t>
              </a: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F1E696D4-E5FE-860D-1D34-E9EE1C10C9D2}"/>
                </a:ext>
              </a:extLst>
            </p:cNvPr>
            <p:cNvGrpSpPr/>
            <p:nvPr/>
          </p:nvGrpSpPr>
          <p:grpSpPr>
            <a:xfrm>
              <a:off x="16138233" y="7258003"/>
              <a:ext cx="1609344" cy="1135326"/>
              <a:chOff x="16138233" y="7258004"/>
              <a:chExt cx="1609344" cy="1135326"/>
            </a:xfrm>
          </p:grpSpPr>
          <p:grpSp>
            <p:nvGrpSpPr>
              <p:cNvPr id="103" name="Group 22">
                <a:extLst>
                  <a:ext uri="{FF2B5EF4-FFF2-40B4-BE49-F238E27FC236}">
                    <a16:creationId xmlns:a16="http://schemas.microsoft.com/office/drawing/2014/main" id="{5416D5A0-82EC-397C-CD23-BC0C370A68FE}"/>
                  </a:ext>
                </a:extLst>
              </p:cNvPr>
              <p:cNvGrpSpPr/>
              <p:nvPr/>
            </p:nvGrpSpPr>
            <p:grpSpPr>
              <a:xfrm>
                <a:off x="16138233" y="7258004"/>
                <a:ext cx="1609344" cy="1135326"/>
                <a:chOff x="0" y="0"/>
                <a:chExt cx="660943" cy="299016"/>
              </a:xfrm>
            </p:grpSpPr>
            <p:sp>
              <p:nvSpPr>
                <p:cNvPr id="105" name="Freeform 23">
                  <a:extLst>
                    <a:ext uri="{FF2B5EF4-FFF2-40B4-BE49-F238E27FC236}">
                      <a16:creationId xmlns:a16="http://schemas.microsoft.com/office/drawing/2014/main" id="{B63C1738-3BE9-3D99-A437-A88740647C4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0943" cy="299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943" h="299016">
                      <a:moveTo>
                        <a:pt x="0" y="0"/>
                      </a:moveTo>
                      <a:lnTo>
                        <a:pt x="660943" y="0"/>
                      </a:lnTo>
                      <a:lnTo>
                        <a:pt x="660943" y="299016"/>
                      </a:lnTo>
                      <a:lnTo>
                        <a:pt x="0" y="299016"/>
                      </a:lnTo>
                      <a:close/>
                    </a:path>
                  </a:pathLst>
                </a:custGeom>
                <a:ln w="19050" cap="sq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>
                    <a:latin typeface="Rubik" panose="020B0604020202020204" charset="-79"/>
                    <a:cs typeface="Rubik" panose="020B0604020202020204" charset="-79"/>
                  </a:endParaRPr>
                </a:p>
              </p:txBody>
            </p:sp>
            <p:sp>
              <p:nvSpPr>
                <p:cNvPr id="106" name="TextBox 24">
                  <a:extLst>
                    <a:ext uri="{FF2B5EF4-FFF2-40B4-BE49-F238E27FC236}">
                      <a16:creationId xmlns:a16="http://schemas.microsoft.com/office/drawing/2014/main" id="{A727961D-2E00-6E55-E275-F480CA82EF5F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660943" cy="337116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  <a:spcBef>
                      <a:spcPct val="0"/>
                    </a:spcBef>
                  </a:pPr>
                  <a:endParaRPr>
                    <a:latin typeface="Rubik" panose="020B0604020202020204" charset="-79"/>
                    <a:cs typeface="Rubik" panose="020B0604020202020204" charset="-79"/>
                  </a:endParaRPr>
                </a:p>
              </p:txBody>
            </p:sp>
          </p:grpSp>
          <p:sp>
            <p:nvSpPr>
              <p:cNvPr id="104" name="TextBox 25">
                <a:extLst>
                  <a:ext uri="{FF2B5EF4-FFF2-40B4-BE49-F238E27FC236}">
                    <a16:creationId xmlns:a16="http://schemas.microsoft.com/office/drawing/2014/main" id="{9DB950AA-3FCF-EAE5-E509-D7640B8298E9}"/>
                  </a:ext>
                </a:extLst>
              </p:cNvPr>
              <p:cNvSpPr txBox="1"/>
              <p:nvPr/>
            </p:nvSpPr>
            <p:spPr>
              <a:xfrm>
                <a:off x="16202241" y="7604196"/>
                <a:ext cx="1481328" cy="44294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1814"/>
                  </a:lnSpc>
                </a:pPr>
                <a:r>
                  <a:rPr lang="en-US" sz="1200" dirty="0">
                    <a:solidFill>
                      <a:srgbClr val="FFFFFF"/>
                    </a:solidFill>
                    <a:latin typeface="Rubik" panose="020B0604020202020204" charset="-79"/>
                    <a:ea typeface="Rubik"/>
                    <a:cs typeface="Rubik" panose="020B0604020202020204" charset="-79"/>
                    <a:sym typeface="Rubik"/>
                  </a:rPr>
                  <a:t>Complicated cancel procedures</a:t>
                </a:r>
              </a:p>
            </p:txBody>
          </p:sp>
        </p:grp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2F80D64B-A2F3-98E1-01AE-1C66F5C44E13}"/>
              </a:ext>
            </a:extLst>
          </p:cNvPr>
          <p:cNvGrpSpPr/>
          <p:nvPr/>
        </p:nvGrpSpPr>
        <p:grpSpPr>
          <a:xfrm>
            <a:off x="87423" y="4319673"/>
            <a:ext cx="18124377" cy="904942"/>
            <a:chOff x="31605" y="3049936"/>
            <a:chExt cx="18124377" cy="904942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DDA7B68F-01C9-56C4-8F80-8E0E2AB9BE2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1605" y="3049936"/>
              <a:ext cx="18124377" cy="904942"/>
              <a:chOff x="-7650514" y="3695700"/>
              <a:chExt cx="25930047" cy="1294676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F7B0C445-620E-6C8B-CA45-5320F9A8CC52}"/>
                  </a:ext>
                </a:extLst>
              </p:cNvPr>
              <p:cNvSpPr/>
              <p:nvPr/>
            </p:nvSpPr>
            <p:spPr>
              <a:xfrm>
                <a:off x="-7650514" y="3695700"/>
                <a:ext cx="16230600" cy="1278160"/>
              </a:xfrm>
              <a:custGeom>
                <a:avLst/>
                <a:gdLst/>
                <a:ahLst/>
                <a:cxnLst/>
                <a:rect l="l" t="t" r="r" b="b"/>
                <a:pathLst>
                  <a:path w="16230600" h="1278160">
                    <a:moveTo>
                      <a:pt x="0" y="0"/>
                    </a:moveTo>
                    <a:lnTo>
                      <a:pt x="16230600" y="0"/>
                    </a:lnTo>
                    <a:lnTo>
                      <a:pt x="16230600" y="1278160"/>
                    </a:lnTo>
                    <a:lnTo>
                      <a:pt x="0" y="127816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 dirty="0">
                  <a:latin typeface="Rubik" panose="020B0604020202020204" charset="-79"/>
                  <a:cs typeface="Rubik" panose="020B0604020202020204" charset="-79"/>
                </a:endParaRPr>
              </a:p>
            </p:txBody>
          </p:sp>
          <p:sp>
            <p:nvSpPr>
              <p:cNvPr id="89" name="Freeform 3">
                <a:extLst>
                  <a:ext uri="{FF2B5EF4-FFF2-40B4-BE49-F238E27FC236}">
                    <a16:creationId xmlns:a16="http://schemas.microsoft.com/office/drawing/2014/main" id="{B573363C-5B1A-B25B-BE34-10C3426FB4B3}"/>
                  </a:ext>
                </a:extLst>
              </p:cNvPr>
              <p:cNvSpPr/>
              <p:nvPr/>
            </p:nvSpPr>
            <p:spPr>
              <a:xfrm>
                <a:off x="8467727" y="3712216"/>
                <a:ext cx="9811806" cy="1278160"/>
              </a:xfrm>
              <a:custGeom>
                <a:avLst/>
                <a:gdLst/>
                <a:ahLst/>
                <a:cxnLst/>
                <a:rect l="l" t="t" r="r" b="b"/>
                <a:pathLst>
                  <a:path w="9811806" h="1278160">
                    <a:moveTo>
                      <a:pt x="0" y="0"/>
                    </a:moveTo>
                    <a:lnTo>
                      <a:pt x="9811806" y="0"/>
                    </a:lnTo>
                    <a:lnTo>
                      <a:pt x="9811806" y="1278160"/>
                    </a:lnTo>
                    <a:lnTo>
                      <a:pt x="0" y="127816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 r="-65419"/>
                </a:stretch>
              </a:blipFill>
            </p:spPr>
            <p:txBody>
              <a:bodyPr/>
              <a:lstStyle/>
              <a:p>
                <a:endParaRPr lang="en-US">
                  <a:latin typeface="Rubik" panose="020B0604020202020204" charset="-79"/>
                  <a:cs typeface="Rubik" panose="020B0604020202020204" charset="-79"/>
                </a:endParaRPr>
              </a:p>
            </p:txBody>
          </p:sp>
        </p:grp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D823529-12BA-E09A-A596-A0251FC1E852}"/>
                </a:ext>
              </a:extLst>
            </p:cNvPr>
            <p:cNvSpPr/>
            <p:nvPr/>
          </p:nvSpPr>
          <p:spPr>
            <a:xfrm>
              <a:off x="3187321" y="3253926"/>
              <a:ext cx="513475" cy="513475"/>
            </a:xfrm>
            <a:custGeom>
              <a:avLst/>
              <a:gdLst/>
              <a:ahLst/>
              <a:cxnLst/>
              <a:rect l="l" t="t" r="r" b="b"/>
              <a:pathLst>
                <a:path w="513475" h="513475">
                  <a:moveTo>
                    <a:pt x="0" y="0"/>
                  </a:moveTo>
                  <a:lnTo>
                    <a:pt x="513474" y="0"/>
                  </a:lnTo>
                  <a:lnTo>
                    <a:pt x="513474" y="513474"/>
                  </a:lnTo>
                  <a:lnTo>
                    <a:pt x="0" y="51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latin typeface="Rubik" panose="020B0604020202020204" charset="-79"/>
                <a:cs typeface="Rubik" panose="020B0604020202020204" charset="-79"/>
              </a:endParaRPr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368254E-80E5-E797-AE5D-0EAF740345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41823" y="3246353"/>
              <a:ext cx="530849" cy="513475"/>
            </a:xfrm>
            <a:custGeom>
              <a:avLst/>
              <a:gdLst/>
              <a:ahLst/>
              <a:cxnLst/>
              <a:rect l="l" t="t" r="r" b="b"/>
              <a:pathLst>
                <a:path w="602326" h="582613">
                  <a:moveTo>
                    <a:pt x="0" y="0"/>
                  </a:moveTo>
                  <a:lnTo>
                    <a:pt x="602326" y="0"/>
                  </a:lnTo>
                  <a:lnTo>
                    <a:pt x="602326" y="582614"/>
                  </a:lnTo>
                  <a:lnTo>
                    <a:pt x="0" y="582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latin typeface="Rubik" panose="020B0604020202020204" charset="-79"/>
                <a:cs typeface="Rubik" panose="020B0604020202020204" charset="-79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E486D66-B9FE-F303-7FC1-1C3420FD44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09189" y="3278870"/>
              <a:ext cx="545162" cy="458618"/>
            </a:xfrm>
            <a:custGeom>
              <a:avLst/>
              <a:gdLst/>
              <a:ahLst/>
              <a:cxnLst/>
              <a:rect l="l" t="t" r="r" b="b"/>
              <a:pathLst>
                <a:path w="663976" h="558570">
                  <a:moveTo>
                    <a:pt x="0" y="0"/>
                  </a:moveTo>
                  <a:lnTo>
                    <a:pt x="663976" y="0"/>
                  </a:lnTo>
                  <a:lnTo>
                    <a:pt x="663976" y="558570"/>
                  </a:lnTo>
                  <a:lnTo>
                    <a:pt x="0" y="558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latin typeface="Rubik" panose="020B0604020202020204" charset="-79"/>
                <a:cs typeface="Rubik" panose="020B0604020202020204" charset="-79"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645B921-EA0C-0D82-A5E7-00EB7550B378}"/>
                </a:ext>
              </a:extLst>
            </p:cNvPr>
            <p:cNvSpPr/>
            <p:nvPr/>
          </p:nvSpPr>
          <p:spPr>
            <a:xfrm>
              <a:off x="854198" y="3228238"/>
              <a:ext cx="531590" cy="531590"/>
            </a:xfrm>
            <a:custGeom>
              <a:avLst/>
              <a:gdLst/>
              <a:ahLst/>
              <a:cxnLst/>
              <a:rect l="l" t="t" r="r" b="b"/>
              <a:pathLst>
                <a:path w="531590" h="531590">
                  <a:moveTo>
                    <a:pt x="0" y="0"/>
                  </a:moveTo>
                  <a:lnTo>
                    <a:pt x="531590" y="0"/>
                  </a:lnTo>
                  <a:lnTo>
                    <a:pt x="531590" y="531590"/>
                  </a:lnTo>
                  <a:lnTo>
                    <a:pt x="0" y="531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latin typeface="Rubik" panose="020B0604020202020204" charset="-79"/>
                <a:cs typeface="Rubik" panose="020B0604020202020204" charset="-79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8AF8B06-CDF0-01C3-BE42-3B046C11A956}"/>
                </a:ext>
              </a:extLst>
            </p:cNvPr>
            <p:cNvSpPr/>
            <p:nvPr/>
          </p:nvSpPr>
          <p:spPr>
            <a:xfrm>
              <a:off x="9965703" y="3182648"/>
              <a:ext cx="553317" cy="622770"/>
            </a:xfrm>
            <a:custGeom>
              <a:avLst/>
              <a:gdLst/>
              <a:ahLst/>
              <a:cxnLst/>
              <a:rect l="l" t="t" r="r" b="b"/>
              <a:pathLst>
                <a:path w="580084" h="713949">
                  <a:moveTo>
                    <a:pt x="0" y="0"/>
                  </a:moveTo>
                  <a:lnTo>
                    <a:pt x="580083" y="0"/>
                  </a:lnTo>
                  <a:lnTo>
                    <a:pt x="580083" y="713949"/>
                  </a:lnTo>
                  <a:lnTo>
                    <a:pt x="0" y="713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latin typeface="Rubik" panose="020B0604020202020204" charset="-79"/>
                <a:cs typeface="Rubik" panose="020B0604020202020204" charset="-79"/>
              </a:endParaRPr>
            </a:p>
          </p:txBody>
        </p:sp>
        <p:sp>
          <p:nvSpPr>
            <p:cNvPr id="90" name="Freeform 4">
              <a:extLst>
                <a:ext uri="{FF2B5EF4-FFF2-40B4-BE49-F238E27FC236}">
                  <a16:creationId xmlns:a16="http://schemas.microsoft.com/office/drawing/2014/main" id="{13E7E20E-BA8A-94A7-9F0B-BE43360E21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173026" y="3197306"/>
              <a:ext cx="565455" cy="622233"/>
            </a:xfrm>
            <a:custGeom>
              <a:avLst/>
              <a:gdLst/>
              <a:ahLst/>
              <a:cxnLst/>
              <a:rect l="l" t="t" r="r" b="b"/>
              <a:pathLst>
                <a:path w="696869" h="790774">
                  <a:moveTo>
                    <a:pt x="0" y="0"/>
                  </a:moveTo>
                  <a:lnTo>
                    <a:pt x="696869" y="0"/>
                  </a:lnTo>
                  <a:lnTo>
                    <a:pt x="696869" y="790774"/>
                  </a:lnTo>
                  <a:lnTo>
                    <a:pt x="0" y="790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latin typeface="Rubik" panose="020B0604020202020204" charset="-79"/>
                <a:cs typeface="Rubik" panose="020B0604020202020204" charset="-79"/>
              </a:endParaRPr>
            </a:p>
          </p:txBody>
        </p:sp>
        <p:sp>
          <p:nvSpPr>
            <p:cNvPr id="91" name="Freeform 5">
              <a:extLst>
                <a:ext uri="{FF2B5EF4-FFF2-40B4-BE49-F238E27FC236}">
                  <a16:creationId xmlns:a16="http://schemas.microsoft.com/office/drawing/2014/main" id="{C4BDB4C6-03C4-1A0B-0EB6-D4EFAD2BBB96}"/>
                </a:ext>
              </a:extLst>
            </p:cNvPr>
            <p:cNvSpPr/>
            <p:nvPr/>
          </p:nvSpPr>
          <p:spPr>
            <a:xfrm>
              <a:off x="16743476" y="3149387"/>
              <a:ext cx="508100" cy="689293"/>
            </a:xfrm>
            <a:custGeom>
              <a:avLst/>
              <a:gdLst/>
              <a:ahLst/>
              <a:cxnLst/>
              <a:rect l="l" t="t" r="r" b="b"/>
              <a:pathLst>
                <a:path w="693463" h="903535">
                  <a:moveTo>
                    <a:pt x="0" y="0"/>
                  </a:moveTo>
                  <a:lnTo>
                    <a:pt x="693463" y="0"/>
                  </a:lnTo>
                  <a:lnTo>
                    <a:pt x="693463" y="903535"/>
                  </a:lnTo>
                  <a:lnTo>
                    <a:pt x="0" y="903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>
                <a:latin typeface="Rubik" panose="020B0604020202020204" charset="-79"/>
                <a:cs typeface="Rubik" panose="020B0604020202020204" charset="-79"/>
              </a:endParaRPr>
            </a:p>
          </p:txBody>
        </p:sp>
        <p:sp>
          <p:nvSpPr>
            <p:cNvPr id="92" name="Freeform 6">
              <a:extLst>
                <a:ext uri="{FF2B5EF4-FFF2-40B4-BE49-F238E27FC236}">
                  <a16:creationId xmlns:a16="http://schemas.microsoft.com/office/drawing/2014/main" id="{69E092C6-3EEA-F09F-CC03-D4515DECC8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28829" y="3182648"/>
              <a:ext cx="549297" cy="656032"/>
            </a:xfrm>
            <a:custGeom>
              <a:avLst/>
              <a:gdLst/>
              <a:ahLst/>
              <a:cxnLst/>
              <a:rect l="l" t="t" r="r" b="b"/>
              <a:pathLst>
                <a:path w="705126" h="844462">
                  <a:moveTo>
                    <a:pt x="0" y="0"/>
                  </a:moveTo>
                  <a:lnTo>
                    <a:pt x="705126" y="0"/>
                  </a:lnTo>
                  <a:lnTo>
                    <a:pt x="705126" y="844462"/>
                  </a:lnTo>
                  <a:lnTo>
                    <a:pt x="0" y="8444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>
                <a:latin typeface="Rubik" panose="020B0604020202020204" charset="-79"/>
                <a:cs typeface="Rubik" panose="020B0604020202020204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3003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9F4F19-FB9A-F1E9-6B17-A53C48566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86C64CD4-2D20-76EF-ED15-08C31A19FA6F}"/>
              </a:ext>
            </a:extLst>
          </p:cNvPr>
          <p:cNvSpPr txBox="1"/>
          <p:nvPr/>
        </p:nvSpPr>
        <p:spPr>
          <a:xfrm>
            <a:off x="1203172" y="1854354"/>
            <a:ext cx="12065307" cy="142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The Core Challenge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C6B0CDF-E3A3-440F-91E4-92919ACF46F9}"/>
              </a:ext>
            </a:extLst>
          </p:cNvPr>
          <p:cNvGrpSpPr>
            <a:grpSpLocks noChangeAspect="1"/>
          </p:cNvGrpSpPr>
          <p:nvPr/>
        </p:nvGrpSpPr>
        <p:grpSpPr>
          <a:xfrm>
            <a:off x="1028700" y="3280565"/>
            <a:ext cx="14220858" cy="6265756"/>
            <a:chOff x="1028700" y="4641795"/>
            <a:chExt cx="11131387" cy="4904525"/>
          </a:xfrm>
          <a:effectLst>
            <a:outerShdw blurRad="431800" dist="177800" dir="2700000" sy="-23000" kx="-800400" algn="bl" rotWithShape="0">
              <a:schemeClr val="bg1">
                <a:lumMod val="95000"/>
                <a:alpha val="14000"/>
              </a:schemeClr>
            </a:outerShdw>
          </a:effectLst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EA1BC06E-9B0C-258C-C502-E2EB938FA41D}"/>
                </a:ext>
              </a:extLst>
            </p:cNvPr>
            <p:cNvGrpSpPr/>
            <p:nvPr/>
          </p:nvGrpSpPr>
          <p:grpSpPr>
            <a:xfrm>
              <a:off x="3703332" y="5035633"/>
              <a:ext cx="4116850" cy="4116850"/>
              <a:chOff x="0" y="0"/>
              <a:chExt cx="5489133" cy="5489133"/>
            </a:xfrm>
          </p:grpSpPr>
          <p:grpSp>
            <p:nvGrpSpPr>
              <p:cNvPr id="6" name="Group 6">
                <a:extLst>
                  <a:ext uri="{FF2B5EF4-FFF2-40B4-BE49-F238E27FC236}">
                    <a16:creationId xmlns:a16="http://schemas.microsoft.com/office/drawing/2014/main" id="{58AEE5CD-E925-E9C1-49F8-4C685236603F}"/>
                  </a:ext>
                </a:extLst>
              </p:cNvPr>
              <p:cNvGrpSpPr/>
              <p:nvPr/>
            </p:nvGrpSpPr>
            <p:grpSpPr>
              <a:xfrm>
                <a:off x="0" y="0"/>
                <a:ext cx="5489133" cy="5489133"/>
                <a:chOff x="0" y="0"/>
                <a:chExt cx="812800" cy="812800"/>
              </a:xfrm>
            </p:grpSpPr>
            <p:sp>
              <p:nvSpPr>
                <p:cNvPr id="7" name="Freeform 7">
                  <a:extLst>
                    <a:ext uri="{FF2B5EF4-FFF2-40B4-BE49-F238E27FC236}">
                      <a16:creationId xmlns:a16="http://schemas.microsoft.com/office/drawing/2014/main" id="{A3553452-807B-26A5-14B3-4D91B346BBD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0D052E"/>
                </a:solidFill>
                <a:ln w="28575" cap="sq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" name="TextBox 8">
                  <a:extLst>
                    <a:ext uri="{FF2B5EF4-FFF2-40B4-BE49-F238E27FC236}">
                      <a16:creationId xmlns:a16="http://schemas.microsoft.com/office/drawing/2014/main" id="{2859B67C-32F9-9D3D-90E0-0247A7A18F2F}"/>
                    </a:ext>
                  </a:extLst>
                </p:cNvPr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5F0BF2D1-B072-E3CC-34BF-B200FD369E62}"/>
                  </a:ext>
                </a:extLst>
              </p:cNvPr>
              <p:cNvSpPr txBox="1"/>
              <p:nvPr/>
            </p:nvSpPr>
            <p:spPr>
              <a:xfrm>
                <a:off x="752827" y="1580123"/>
                <a:ext cx="3983478" cy="1895177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4235"/>
                  </a:lnSpc>
                </a:pPr>
                <a:r>
                  <a:rPr lang="en-US" sz="4000" dirty="0">
                    <a:solidFill>
                      <a:srgbClr val="FFFFFF"/>
                    </a:solidFill>
                    <a:latin typeface="Rubik"/>
                    <a:ea typeface="Rubik"/>
                    <a:cs typeface="Rubik"/>
                    <a:sym typeface="Rubik"/>
                  </a:rPr>
                  <a:t>45%</a:t>
                </a:r>
              </a:p>
              <a:p>
                <a:pPr algn="ctr">
                  <a:lnSpc>
                    <a:spcPts val="2419"/>
                  </a:lnSpc>
                </a:pPr>
                <a:endParaRPr lang="en-US" sz="4000" dirty="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endParaRPr>
              </a:p>
              <a:p>
                <a:pPr algn="ctr">
                  <a:lnSpc>
                    <a:spcPts val="3025"/>
                  </a:lnSpc>
                </a:pPr>
                <a:r>
                  <a:rPr lang="en-US" sz="3200" dirty="0">
                    <a:solidFill>
                      <a:srgbClr val="FFFFFF"/>
                    </a:solidFill>
                    <a:latin typeface="Rubik"/>
                    <a:ea typeface="Rubik"/>
                    <a:cs typeface="Rubik"/>
                    <a:sym typeface="Rubik"/>
                  </a:rPr>
                  <a:t>Target Segment Churn Rate</a:t>
                </a:r>
              </a:p>
              <a:p>
                <a:pPr algn="ctr">
                  <a:lnSpc>
                    <a:spcPts val="968"/>
                  </a:lnSpc>
                </a:pPr>
                <a:endParaRPr lang="en-US" sz="3200" dirty="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endParaRPr>
              </a:p>
            </p:txBody>
          </p:sp>
        </p:grp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018AB73D-0A15-5396-4444-0E449B24BCD7}"/>
                </a:ext>
              </a:extLst>
            </p:cNvPr>
            <p:cNvGrpSpPr/>
            <p:nvPr/>
          </p:nvGrpSpPr>
          <p:grpSpPr>
            <a:xfrm>
              <a:off x="7255562" y="4641795"/>
              <a:ext cx="4904525" cy="4904525"/>
              <a:chOff x="0" y="0"/>
              <a:chExt cx="6539367" cy="6539367"/>
            </a:xfrm>
          </p:grpSpPr>
          <p:grpSp>
            <p:nvGrpSpPr>
              <p:cNvPr id="11" name="Group 11">
                <a:extLst>
                  <a:ext uri="{FF2B5EF4-FFF2-40B4-BE49-F238E27FC236}">
                    <a16:creationId xmlns:a16="http://schemas.microsoft.com/office/drawing/2014/main" id="{83DC73D7-2386-CC1D-990B-9A2DE722E9AA}"/>
                  </a:ext>
                </a:extLst>
              </p:cNvPr>
              <p:cNvGrpSpPr/>
              <p:nvPr/>
            </p:nvGrpSpPr>
            <p:grpSpPr>
              <a:xfrm>
                <a:off x="0" y="0"/>
                <a:ext cx="6539367" cy="6539367"/>
                <a:chOff x="0" y="0"/>
                <a:chExt cx="812800" cy="812800"/>
              </a:xfrm>
            </p:grpSpPr>
            <p:sp>
              <p:nvSpPr>
                <p:cNvPr id="12" name="Freeform 12">
                  <a:extLst>
                    <a:ext uri="{FF2B5EF4-FFF2-40B4-BE49-F238E27FC236}">
                      <a16:creationId xmlns:a16="http://schemas.microsoft.com/office/drawing/2014/main" id="{9E04AD46-5A2D-4C62-41C7-2FB8528113C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9574F9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" name="TextBox 13">
                  <a:extLst>
                    <a:ext uri="{FF2B5EF4-FFF2-40B4-BE49-F238E27FC236}">
                      <a16:creationId xmlns:a16="http://schemas.microsoft.com/office/drawing/2014/main" id="{631B134E-0FB8-BFAF-B484-665388FDEF84}"/>
                    </a:ext>
                  </a:extLst>
                </p:cNvPr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6AC49C73-B846-B514-B417-C4B321B2D1A4}"/>
                  </a:ext>
                </a:extLst>
              </p:cNvPr>
              <p:cNvSpPr txBox="1"/>
              <p:nvPr/>
            </p:nvSpPr>
            <p:spPr>
              <a:xfrm>
                <a:off x="1277944" y="1817304"/>
                <a:ext cx="3983479" cy="310582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5445"/>
                  </a:lnSpc>
                </a:pPr>
                <a:r>
                  <a:rPr lang="en-US" sz="5400" dirty="0">
                    <a:solidFill>
                      <a:srgbClr val="FFFFFF"/>
                    </a:solidFill>
                    <a:latin typeface="Rubik"/>
                    <a:ea typeface="Rubik"/>
                    <a:cs typeface="Rubik"/>
                    <a:sym typeface="Rubik"/>
                  </a:rPr>
                  <a:t>$2.8M</a:t>
                </a:r>
              </a:p>
              <a:p>
                <a:pPr algn="ctr">
                  <a:lnSpc>
                    <a:spcPts val="2419"/>
                  </a:lnSpc>
                </a:pPr>
                <a:endParaRPr lang="en-US" sz="5400" dirty="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endParaRPr>
              </a:p>
              <a:p>
                <a:pPr algn="ctr">
                  <a:lnSpc>
                    <a:spcPts val="4234"/>
                  </a:lnSpc>
                </a:pPr>
                <a:r>
                  <a:rPr lang="en-US" sz="4000" dirty="0">
                    <a:solidFill>
                      <a:srgbClr val="FFFFFF"/>
                    </a:solidFill>
                    <a:latin typeface="Rubik"/>
                    <a:ea typeface="Rubik"/>
                    <a:cs typeface="Rubik"/>
                    <a:sym typeface="Rubik"/>
                  </a:rPr>
                  <a:t>CLV Lost to Churn</a:t>
                </a:r>
              </a:p>
              <a:p>
                <a:pPr algn="ctr">
                  <a:lnSpc>
                    <a:spcPts val="4234"/>
                  </a:lnSpc>
                </a:pPr>
                <a:endParaRPr lang="en-US" sz="4000" dirty="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endParaRPr>
              </a:p>
              <a:p>
                <a:pPr algn="ctr">
                  <a:lnSpc>
                    <a:spcPts val="968"/>
                  </a:lnSpc>
                </a:pPr>
                <a:endParaRPr lang="en-US" sz="4000" dirty="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endParaRPr>
              </a:p>
              <a:p>
                <a:pPr algn="ctr">
                  <a:lnSpc>
                    <a:spcPts val="1814"/>
                  </a:lnSpc>
                </a:pPr>
                <a:r>
                  <a:rPr lang="en-US" dirty="0">
                    <a:solidFill>
                      <a:srgbClr val="FFFFFF"/>
                    </a:solidFill>
                    <a:latin typeface="Rubik"/>
                    <a:ea typeface="Rubik"/>
                    <a:cs typeface="Rubik"/>
                    <a:sym typeface="Rubik"/>
                  </a:rPr>
                  <a:t>in target segment alone</a:t>
                </a:r>
              </a:p>
            </p:txBody>
          </p:sp>
        </p:grpSp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95090C3A-BFE6-AE5B-7CDD-A6EC97C9C60B}"/>
                </a:ext>
              </a:extLst>
            </p:cNvPr>
            <p:cNvGrpSpPr/>
            <p:nvPr/>
          </p:nvGrpSpPr>
          <p:grpSpPr>
            <a:xfrm>
              <a:off x="1028700" y="5567819"/>
              <a:ext cx="3052477" cy="3052477"/>
              <a:chOff x="0" y="0"/>
              <a:chExt cx="4069969" cy="4069969"/>
            </a:xfrm>
          </p:grpSpPr>
          <p:grpSp>
            <p:nvGrpSpPr>
              <p:cNvPr id="16" name="Group 16">
                <a:extLst>
                  <a:ext uri="{FF2B5EF4-FFF2-40B4-BE49-F238E27FC236}">
                    <a16:creationId xmlns:a16="http://schemas.microsoft.com/office/drawing/2014/main" id="{8FB29F52-9B31-7764-5C6C-86BEC65FE539}"/>
                  </a:ext>
                </a:extLst>
              </p:cNvPr>
              <p:cNvGrpSpPr/>
              <p:nvPr/>
            </p:nvGrpSpPr>
            <p:grpSpPr>
              <a:xfrm>
                <a:off x="0" y="0"/>
                <a:ext cx="4069969" cy="4069969"/>
                <a:chOff x="0" y="0"/>
                <a:chExt cx="812800" cy="812800"/>
              </a:xfrm>
            </p:grpSpPr>
            <p:sp>
              <p:nvSpPr>
                <p:cNvPr id="17" name="Freeform 17">
                  <a:extLst>
                    <a:ext uri="{FF2B5EF4-FFF2-40B4-BE49-F238E27FC236}">
                      <a16:creationId xmlns:a16="http://schemas.microsoft.com/office/drawing/2014/main" id="{551765E1-E168-79FD-CFD7-083538196FB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5E17EB"/>
                </a:solidFill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TextBox 18">
                  <a:extLst>
                    <a:ext uri="{FF2B5EF4-FFF2-40B4-BE49-F238E27FC236}">
                      <a16:creationId xmlns:a16="http://schemas.microsoft.com/office/drawing/2014/main" id="{1D810E45-9AD4-ADE1-78DD-1D06454C452C}"/>
                    </a:ext>
                  </a:extLst>
                </p:cNvPr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sp>
            <p:nvSpPr>
              <p:cNvPr id="19" name="TextBox 19">
                <a:extLst>
                  <a:ext uri="{FF2B5EF4-FFF2-40B4-BE49-F238E27FC236}">
                    <a16:creationId xmlns:a16="http://schemas.microsoft.com/office/drawing/2014/main" id="{3A474E92-DA7B-B207-CEDD-174CCE4E828E}"/>
                  </a:ext>
                </a:extLst>
              </p:cNvPr>
              <p:cNvSpPr txBox="1"/>
              <p:nvPr/>
            </p:nvSpPr>
            <p:spPr>
              <a:xfrm>
                <a:off x="823401" y="1241000"/>
                <a:ext cx="2423166" cy="187449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83"/>
                  </a:lnSpc>
                </a:pPr>
                <a:r>
                  <a:rPr lang="en-US" sz="2800" dirty="0">
                    <a:solidFill>
                      <a:srgbClr val="FFFFFF"/>
                    </a:solidFill>
                    <a:latin typeface="Rubik"/>
                    <a:ea typeface="Rubik"/>
                    <a:cs typeface="Rubik"/>
                    <a:sym typeface="Rubik"/>
                  </a:rPr>
                  <a:t>30%</a:t>
                </a:r>
              </a:p>
              <a:p>
                <a:pPr algn="ctr">
                  <a:lnSpc>
                    <a:spcPts val="1814"/>
                  </a:lnSpc>
                </a:pPr>
                <a:endParaRPr lang="en-US" sz="2800" dirty="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endParaRPr>
              </a:p>
              <a:p>
                <a:pPr algn="ctr">
                  <a:lnSpc>
                    <a:spcPts val="2178"/>
                  </a:lnSpc>
                </a:pPr>
                <a:r>
                  <a:rPr lang="en-US" sz="2400" dirty="0">
                    <a:solidFill>
                      <a:srgbClr val="FFFFFF"/>
                    </a:solidFill>
                    <a:latin typeface="Rubik"/>
                    <a:ea typeface="Rubik"/>
                    <a:cs typeface="Rubik"/>
                    <a:sym typeface="Rubik"/>
                  </a:rPr>
                  <a:t>Overall Churn Rate</a:t>
                </a:r>
              </a:p>
              <a:p>
                <a:pPr algn="ctr">
                  <a:lnSpc>
                    <a:spcPts val="2178"/>
                  </a:lnSpc>
                </a:pPr>
                <a:endParaRPr lang="en-US" sz="2400" dirty="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endParaRPr>
              </a:p>
              <a:p>
                <a:pPr algn="ctr">
                  <a:lnSpc>
                    <a:spcPts val="968"/>
                  </a:lnSpc>
                </a:pPr>
                <a:endParaRPr lang="en-US" sz="2400" dirty="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endParaRPr>
              </a:p>
              <a:p>
                <a:pPr algn="ctr">
                  <a:lnSpc>
                    <a:spcPts val="1815"/>
                  </a:lnSpc>
                </a:pPr>
                <a:r>
                  <a:rPr lang="en-US" dirty="0">
                    <a:solidFill>
                      <a:srgbClr val="FFFFFF"/>
                    </a:solidFill>
                    <a:latin typeface="Rubik"/>
                    <a:ea typeface="Rubik"/>
                    <a:cs typeface="Rubik"/>
                    <a:sym typeface="Rubik"/>
                  </a:rPr>
                  <a:t>vs. 15% industry avg.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17081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231527" y="2634134"/>
            <a:ext cx="18519527" cy="7849668"/>
            <a:chOff x="0" y="0"/>
            <a:chExt cx="4877571" cy="20674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77571" cy="2067402"/>
            </a:xfrm>
            <a:custGeom>
              <a:avLst/>
              <a:gdLst/>
              <a:ahLst/>
              <a:cxnLst/>
              <a:rect l="l" t="t" r="r" b="b"/>
              <a:pathLst>
                <a:path w="4877571" h="2067402">
                  <a:moveTo>
                    <a:pt x="0" y="0"/>
                  </a:moveTo>
                  <a:lnTo>
                    <a:pt x="4877571" y="0"/>
                  </a:lnTo>
                  <a:lnTo>
                    <a:pt x="4877571" y="2067402"/>
                  </a:lnTo>
                  <a:lnTo>
                    <a:pt x="0" y="2067402"/>
                  </a:lnTo>
                  <a:close/>
                </a:path>
              </a:pathLst>
            </a:custGeom>
            <a:gradFill rotWithShape="1">
              <a:gsLst>
                <a:gs pos="0">
                  <a:srgbClr val="0D052E">
                    <a:alpha val="100000"/>
                  </a:srgbClr>
                </a:gs>
                <a:gs pos="100000">
                  <a:srgbClr val="0D052E">
                    <a:alpha val="0"/>
                  </a:srgbClr>
                </a:gs>
              </a:gsLst>
              <a:lin ang="162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77571" cy="2105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6195" y="2278425"/>
            <a:ext cx="9543911" cy="8158547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203172" y="5553974"/>
            <a:ext cx="7724933" cy="1319853"/>
            <a:chOff x="0" y="0"/>
            <a:chExt cx="2034550" cy="3476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34550" cy="347616"/>
            </a:xfrm>
            <a:custGeom>
              <a:avLst/>
              <a:gdLst/>
              <a:ahLst/>
              <a:cxnLst/>
              <a:rect l="l" t="t" r="r" b="b"/>
              <a:pathLst>
                <a:path w="2034550" h="347616">
                  <a:moveTo>
                    <a:pt x="0" y="0"/>
                  </a:moveTo>
                  <a:lnTo>
                    <a:pt x="2034550" y="0"/>
                  </a:lnTo>
                  <a:lnTo>
                    <a:pt x="2034550" y="347616"/>
                  </a:lnTo>
                  <a:lnTo>
                    <a:pt x="0" y="347616"/>
                  </a:ln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034550" cy="385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03172" y="4314578"/>
            <a:ext cx="7724933" cy="969092"/>
            <a:chOff x="0" y="0"/>
            <a:chExt cx="2034550" cy="25523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34550" cy="255234"/>
            </a:xfrm>
            <a:custGeom>
              <a:avLst/>
              <a:gdLst/>
              <a:ahLst/>
              <a:cxnLst/>
              <a:rect l="l" t="t" r="r" b="b"/>
              <a:pathLst>
                <a:path w="2034550" h="255234">
                  <a:moveTo>
                    <a:pt x="0" y="0"/>
                  </a:moveTo>
                  <a:lnTo>
                    <a:pt x="2034550" y="0"/>
                  </a:lnTo>
                  <a:lnTo>
                    <a:pt x="2034550" y="255234"/>
                  </a:lnTo>
                  <a:lnTo>
                    <a:pt x="0" y="255234"/>
                  </a:ln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034550" cy="2933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03172" y="1854354"/>
            <a:ext cx="15859980" cy="142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What Drives Churn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78265" y="5749080"/>
            <a:ext cx="6774746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0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Root cause of service interactions are currently unknown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3172" y="7893997"/>
            <a:ext cx="3523935" cy="1235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0"/>
              </a:lnSpc>
            </a:pPr>
            <a:r>
              <a:rPr lang="en-US" sz="2000">
                <a:solidFill>
                  <a:srgbClr val="FFFFFF"/>
                </a:solidFill>
                <a:latin typeface="Rubik Light"/>
                <a:ea typeface="Rubik Light"/>
                <a:cs typeface="Rubik Light"/>
                <a:sym typeface="Rubik Light"/>
              </a:rPr>
              <a:t>Without structured data from service interactions, identifying and solving churn at source is impossible.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65873" y="7893997"/>
            <a:ext cx="3523935" cy="184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0"/>
              </a:lnSpc>
            </a:pPr>
            <a:r>
              <a:rPr lang="en-US" sz="2000">
                <a:solidFill>
                  <a:srgbClr val="FFFFFF"/>
                </a:solidFill>
                <a:latin typeface="Rubik Light"/>
                <a:ea typeface="Rubik Light"/>
                <a:cs typeface="Rubik Light"/>
                <a:sym typeface="Rubik Light"/>
              </a:rPr>
              <a:t>Mobile chat creates a path to structured data on customer issues while simultaneously reducing service friction — addressing churn at the source.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56122" y="4567184"/>
            <a:ext cx="6774746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0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Service Calls #1 Driver of Churn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457AB-F284-58BB-03C2-B906E33E6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39B738B-E656-3162-5681-B3268AC03B1E}"/>
              </a:ext>
            </a:extLst>
          </p:cNvPr>
          <p:cNvGrpSpPr/>
          <p:nvPr/>
        </p:nvGrpSpPr>
        <p:grpSpPr>
          <a:xfrm>
            <a:off x="12868372" y="509716"/>
            <a:ext cx="4572000" cy="9267568"/>
            <a:chOff x="12791317" y="422812"/>
            <a:chExt cx="4572000" cy="9267568"/>
          </a:xfrm>
          <a:effectLst>
            <a:outerShdw blurRad="152400" dist="292100" dir="5400000" sx="90000" sy="-19000" rotWithShape="0">
              <a:schemeClr val="bg1">
                <a:alpha val="15000"/>
              </a:schemeClr>
            </a:outerShdw>
          </a:effectLst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3CBFFC88-B481-6463-664C-68AB437ED9D7}"/>
                </a:ext>
              </a:extLst>
            </p:cNvPr>
            <p:cNvGrpSpPr/>
            <p:nvPr/>
          </p:nvGrpSpPr>
          <p:grpSpPr>
            <a:xfrm>
              <a:off x="12986864" y="569487"/>
              <a:ext cx="4174298" cy="8974158"/>
              <a:chOff x="0" y="0"/>
              <a:chExt cx="1152454" cy="2400166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600AB131-D2E3-E654-EDEC-EC6BFB9E829F}"/>
                  </a:ext>
                </a:extLst>
              </p:cNvPr>
              <p:cNvSpPr/>
              <p:nvPr/>
            </p:nvSpPr>
            <p:spPr>
              <a:xfrm>
                <a:off x="0" y="0"/>
                <a:ext cx="1152454" cy="2400166"/>
              </a:xfrm>
              <a:custGeom>
                <a:avLst/>
                <a:gdLst/>
                <a:ahLst/>
                <a:cxnLst/>
                <a:rect l="l" t="t" r="r" b="b"/>
                <a:pathLst>
                  <a:path w="1152454" h="2400166">
                    <a:moveTo>
                      <a:pt x="90234" y="0"/>
                    </a:moveTo>
                    <a:lnTo>
                      <a:pt x="1062220" y="0"/>
                    </a:lnTo>
                    <a:cubicBezTo>
                      <a:pt x="1112055" y="0"/>
                      <a:pt x="1152454" y="40399"/>
                      <a:pt x="1152454" y="90234"/>
                    </a:cubicBezTo>
                    <a:lnTo>
                      <a:pt x="1152454" y="2309932"/>
                    </a:lnTo>
                    <a:cubicBezTo>
                      <a:pt x="1152454" y="2359767"/>
                      <a:pt x="1112055" y="2400166"/>
                      <a:pt x="1062220" y="2400166"/>
                    </a:cubicBezTo>
                    <a:lnTo>
                      <a:pt x="90234" y="2400166"/>
                    </a:lnTo>
                    <a:cubicBezTo>
                      <a:pt x="40399" y="2400166"/>
                      <a:pt x="0" y="2359767"/>
                      <a:pt x="0" y="2309932"/>
                    </a:cubicBezTo>
                    <a:lnTo>
                      <a:pt x="0" y="90234"/>
                    </a:lnTo>
                    <a:cubicBezTo>
                      <a:pt x="0" y="40399"/>
                      <a:pt x="40399" y="0"/>
                      <a:pt x="9023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4473470F-ADCE-BCD2-C626-562D12092EC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152454" cy="24382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F5531883-243E-4D95-AB10-88A2D323E44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791317" y="422812"/>
              <a:ext cx="4572000" cy="9267568"/>
              <a:chOff x="0" y="0"/>
              <a:chExt cx="9398000" cy="19050000"/>
            </a:xfrm>
          </p:grpSpPr>
          <p:sp>
            <p:nvSpPr>
              <p:cNvPr id="9" name="Freeform 9">
                <a:extLst>
                  <a:ext uri="{FF2B5EF4-FFF2-40B4-BE49-F238E27FC236}">
                    <a16:creationId xmlns:a16="http://schemas.microsoft.com/office/drawing/2014/main" id="{F1F2AFFC-F712-52C0-B068-18CE736E01FF}"/>
                  </a:ext>
                </a:extLst>
              </p:cNvPr>
              <p:cNvSpPr/>
              <p:nvPr/>
            </p:nvSpPr>
            <p:spPr>
              <a:xfrm>
                <a:off x="0" y="0"/>
                <a:ext cx="9398000" cy="19050000"/>
              </a:xfrm>
              <a:custGeom>
                <a:avLst/>
                <a:gdLst/>
                <a:ahLst/>
                <a:cxnLst/>
                <a:rect l="l" t="t" r="r" b="b"/>
                <a:pathLst>
                  <a:path w="9398000" h="19050000">
                    <a:moveTo>
                      <a:pt x="9398000" y="19050000"/>
                    </a:moveTo>
                    <a:lnTo>
                      <a:pt x="0" y="19050000"/>
                    </a:lnTo>
                    <a:lnTo>
                      <a:pt x="0" y="0"/>
                    </a:lnTo>
                    <a:lnTo>
                      <a:pt x="9398000" y="0"/>
                    </a:lnTo>
                    <a:lnTo>
                      <a:pt x="9398000" y="1905000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42" r="-42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AF50CF08-8EC5-75EE-2296-5919571B4CC1}"/>
                  </a:ext>
                </a:extLst>
              </p:cNvPr>
              <p:cNvSpPr/>
              <p:nvPr/>
            </p:nvSpPr>
            <p:spPr>
              <a:xfrm>
                <a:off x="401955" y="301498"/>
                <a:ext cx="8566912" cy="18446877"/>
              </a:xfrm>
              <a:custGeom>
                <a:avLst/>
                <a:gdLst/>
                <a:ahLst/>
                <a:cxnLst/>
                <a:rect l="l" t="t" r="r" b="b"/>
                <a:pathLst>
                  <a:path w="8566912" h="18446877">
                    <a:moveTo>
                      <a:pt x="7456551" y="18446877"/>
                    </a:moveTo>
                    <a:lnTo>
                      <a:pt x="1125220" y="18446877"/>
                    </a:lnTo>
                    <a:cubicBezTo>
                      <a:pt x="503809" y="18446877"/>
                      <a:pt x="0" y="17943067"/>
                      <a:pt x="0" y="17321657"/>
                    </a:cubicBezTo>
                    <a:lnTo>
                      <a:pt x="0" y="1085342"/>
                    </a:lnTo>
                    <a:cubicBezTo>
                      <a:pt x="0" y="485902"/>
                      <a:pt x="485902" y="0"/>
                      <a:pt x="1085342" y="0"/>
                    </a:cubicBezTo>
                    <a:lnTo>
                      <a:pt x="7504811" y="0"/>
                    </a:lnTo>
                    <a:cubicBezTo>
                      <a:pt x="8091424" y="0"/>
                      <a:pt x="8566912" y="475488"/>
                      <a:pt x="8566912" y="1062101"/>
                    </a:cubicBezTo>
                    <a:lnTo>
                      <a:pt x="8566912" y="17336515"/>
                    </a:lnTo>
                    <a:cubicBezTo>
                      <a:pt x="8566912" y="17949672"/>
                      <a:pt x="8069707" y="18446877"/>
                      <a:pt x="7456551" y="18446877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1274" r="-1274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5E3D0A28-ED1B-D6C8-E89A-F80191B7FBB6}"/>
              </a:ext>
            </a:extLst>
          </p:cNvPr>
          <p:cNvSpPr txBox="1"/>
          <p:nvPr/>
        </p:nvSpPr>
        <p:spPr>
          <a:xfrm>
            <a:off x="1203172" y="1265835"/>
            <a:ext cx="12512828" cy="142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Product Overview</a:t>
            </a:r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42C45FE9-341C-E817-D63F-E712A9ADE194}"/>
              </a:ext>
            </a:extLst>
          </p:cNvPr>
          <p:cNvSpPr/>
          <p:nvPr/>
        </p:nvSpPr>
        <p:spPr>
          <a:xfrm>
            <a:off x="847628" y="3756324"/>
            <a:ext cx="2461190" cy="0"/>
          </a:xfrm>
          <a:prstGeom prst="line">
            <a:avLst/>
          </a:prstGeom>
          <a:ln w="666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5078E7A-40DD-14B3-7B3F-6F24C49B6A49}"/>
              </a:ext>
            </a:extLst>
          </p:cNvPr>
          <p:cNvSpPr txBox="1"/>
          <p:nvPr/>
        </p:nvSpPr>
        <p:spPr>
          <a:xfrm>
            <a:off x="847628" y="4077905"/>
            <a:ext cx="8120715" cy="4377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8"/>
              </a:lnSpc>
            </a:pPr>
            <a:r>
              <a:rPr lang="en-US" sz="3200" dirty="0">
                <a:solidFill>
                  <a:srgbClr val="FFFFFF"/>
                </a:solidFill>
                <a:latin typeface="Rubik Light"/>
                <a:ea typeface="Rubik Light"/>
                <a:cs typeface="Rubik Light"/>
                <a:sym typeface="Rubik Light"/>
              </a:rPr>
              <a:t>An in-app chat platform that connects customers to AI and live support while transforming service interactions into actionable insights on churn and satisfaction.</a:t>
            </a:r>
          </a:p>
          <a:p>
            <a:pPr algn="l">
              <a:lnSpc>
                <a:spcPts val="4288"/>
              </a:lnSpc>
            </a:pPr>
            <a:endParaRPr lang="en-US" sz="3200" dirty="0">
              <a:solidFill>
                <a:srgbClr val="FFFFFF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algn="l">
              <a:lnSpc>
                <a:spcPts val="4288"/>
              </a:lnSpc>
            </a:pPr>
            <a:endParaRPr lang="en-US" sz="3200" dirty="0">
              <a:solidFill>
                <a:srgbClr val="FFFFFF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>
              <a:lnSpc>
                <a:spcPts val="4288"/>
              </a:lnSpc>
            </a:pPr>
            <a:r>
              <a:rPr lang="en-US" sz="3200" dirty="0">
                <a:solidFill>
                  <a:schemeClr val="bg1"/>
                </a:solidFill>
                <a:latin typeface="Rubik Light"/>
                <a:ea typeface="Rubik Light"/>
                <a:cs typeface="Rubik Light"/>
                <a:sym typeface="Rubik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US" sz="3200" dirty="0">
              <a:solidFill>
                <a:schemeClr val="bg1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</p:spTree>
    <p:extLst>
      <p:ext uri="{BB962C8B-B14F-4D97-AF65-F5344CB8AC3E}">
        <p14:creationId xmlns:p14="http://schemas.microsoft.com/office/powerpoint/2010/main" val="2818383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65387" y="3693647"/>
            <a:ext cx="5235148" cy="5564653"/>
            <a:chOff x="0" y="0"/>
            <a:chExt cx="1378804" cy="14655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78804" cy="1465588"/>
            </a:xfrm>
            <a:custGeom>
              <a:avLst/>
              <a:gdLst/>
              <a:ahLst/>
              <a:cxnLst/>
              <a:rect l="l" t="t" r="r" b="b"/>
              <a:pathLst>
                <a:path w="1378804" h="1465588">
                  <a:moveTo>
                    <a:pt x="42886" y="0"/>
                  </a:moveTo>
                  <a:lnTo>
                    <a:pt x="1335918" y="0"/>
                  </a:lnTo>
                  <a:cubicBezTo>
                    <a:pt x="1359604" y="0"/>
                    <a:pt x="1378804" y="19201"/>
                    <a:pt x="1378804" y="42886"/>
                  </a:cubicBezTo>
                  <a:lnTo>
                    <a:pt x="1378804" y="1422701"/>
                  </a:lnTo>
                  <a:cubicBezTo>
                    <a:pt x="1378804" y="1446387"/>
                    <a:pt x="1359604" y="1465588"/>
                    <a:pt x="1335918" y="1465588"/>
                  </a:cubicBezTo>
                  <a:lnTo>
                    <a:pt x="42886" y="1465588"/>
                  </a:lnTo>
                  <a:cubicBezTo>
                    <a:pt x="19201" y="1465588"/>
                    <a:pt x="0" y="1446387"/>
                    <a:pt x="0" y="1422701"/>
                  </a:cubicBezTo>
                  <a:lnTo>
                    <a:pt x="0" y="42886"/>
                  </a:lnTo>
                  <a:cubicBezTo>
                    <a:pt x="0" y="19201"/>
                    <a:pt x="19201" y="0"/>
                    <a:pt x="4288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378804" cy="1503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540510" y="3934651"/>
            <a:ext cx="1099275" cy="1158240"/>
          </a:xfrm>
          <a:custGeom>
            <a:avLst/>
            <a:gdLst/>
            <a:ahLst/>
            <a:cxnLst/>
            <a:rect l="l" t="t" r="r" b="b"/>
            <a:pathLst>
              <a:path w="1099275" h="1158240">
                <a:moveTo>
                  <a:pt x="0" y="0"/>
                </a:moveTo>
                <a:lnTo>
                  <a:pt x="1099275" y="0"/>
                </a:lnTo>
                <a:lnTo>
                  <a:pt x="1099275" y="1158240"/>
                </a:lnTo>
                <a:lnTo>
                  <a:pt x="0" y="1158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6528468" y="3693647"/>
            <a:ext cx="5235148" cy="5564653"/>
            <a:chOff x="0" y="0"/>
            <a:chExt cx="1378804" cy="14655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78804" cy="1465588"/>
            </a:xfrm>
            <a:custGeom>
              <a:avLst/>
              <a:gdLst/>
              <a:ahLst/>
              <a:cxnLst/>
              <a:rect l="l" t="t" r="r" b="b"/>
              <a:pathLst>
                <a:path w="1378804" h="1465588">
                  <a:moveTo>
                    <a:pt x="42886" y="0"/>
                  </a:moveTo>
                  <a:lnTo>
                    <a:pt x="1335918" y="0"/>
                  </a:lnTo>
                  <a:cubicBezTo>
                    <a:pt x="1359604" y="0"/>
                    <a:pt x="1378804" y="19201"/>
                    <a:pt x="1378804" y="42886"/>
                  </a:cubicBezTo>
                  <a:lnTo>
                    <a:pt x="1378804" y="1422701"/>
                  </a:lnTo>
                  <a:cubicBezTo>
                    <a:pt x="1378804" y="1446387"/>
                    <a:pt x="1359604" y="1465588"/>
                    <a:pt x="1335918" y="1465588"/>
                  </a:cubicBezTo>
                  <a:lnTo>
                    <a:pt x="42886" y="1465588"/>
                  </a:lnTo>
                  <a:cubicBezTo>
                    <a:pt x="19201" y="1465588"/>
                    <a:pt x="0" y="1446387"/>
                    <a:pt x="0" y="1422701"/>
                  </a:cubicBezTo>
                  <a:lnTo>
                    <a:pt x="0" y="42886"/>
                  </a:lnTo>
                  <a:cubicBezTo>
                    <a:pt x="0" y="19201"/>
                    <a:pt x="19201" y="0"/>
                    <a:pt x="42886" y="0"/>
                  </a:cubicBezTo>
                  <a:close/>
                </a:path>
              </a:pathLst>
            </a:custGeom>
            <a:solidFill>
              <a:srgbClr val="9F5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78804" cy="1503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87466" y="3693647"/>
            <a:ext cx="5235148" cy="5564653"/>
            <a:chOff x="0" y="0"/>
            <a:chExt cx="1378804" cy="14655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78804" cy="1465588"/>
            </a:xfrm>
            <a:custGeom>
              <a:avLst/>
              <a:gdLst/>
              <a:ahLst/>
              <a:cxnLst/>
              <a:rect l="l" t="t" r="r" b="b"/>
              <a:pathLst>
                <a:path w="1378804" h="1465588">
                  <a:moveTo>
                    <a:pt x="42886" y="0"/>
                  </a:moveTo>
                  <a:lnTo>
                    <a:pt x="1335918" y="0"/>
                  </a:lnTo>
                  <a:cubicBezTo>
                    <a:pt x="1359604" y="0"/>
                    <a:pt x="1378804" y="19201"/>
                    <a:pt x="1378804" y="42886"/>
                  </a:cubicBezTo>
                  <a:lnTo>
                    <a:pt x="1378804" y="1422701"/>
                  </a:lnTo>
                  <a:cubicBezTo>
                    <a:pt x="1378804" y="1446387"/>
                    <a:pt x="1359604" y="1465588"/>
                    <a:pt x="1335918" y="1465588"/>
                  </a:cubicBezTo>
                  <a:lnTo>
                    <a:pt x="42886" y="1465588"/>
                  </a:lnTo>
                  <a:cubicBezTo>
                    <a:pt x="19201" y="1465588"/>
                    <a:pt x="0" y="1446387"/>
                    <a:pt x="0" y="1422701"/>
                  </a:cubicBezTo>
                  <a:lnTo>
                    <a:pt x="0" y="42886"/>
                  </a:lnTo>
                  <a:cubicBezTo>
                    <a:pt x="0" y="19201"/>
                    <a:pt x="19201" y="0"/>
                    <a:pt x="4288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78804" cy="1503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2664663" y="3923460"/>
            <a:ext cx="1220281" cy="1180622"/>
          </a:xfrm>
          <a:custGeom>
            <a:avLst/>
            <a:gdLst/>
            <a:ahLst/>
            <a:cxnLst/>
            <a:rect l="l" t="t" r="r" b="b"/>
            <a:pathLst>
              <a:path w="1220281" h="1180622">
                <a:moveTo>
                  <a:pt x="0" y="0"/>
                </a:moveTo>
                <a:lnTo>
                  <a:pt x="1220281" y="0"/>
                </a:lnTo>
                <a:lnTo>
                  <a:pt x="1220281" y="1180622"/>
                </a:lnTo>
                <a:lnTo>
                  <a:pt x="0" y="1180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6873206" y="3923460"/>
            <a:ext cx="1558036" cy="1334068"/>
          </a:xfrm>
          <a:custGeom>
            <a:avLst/>
            <a:gdLst/>
            <a:ahLst/>
            <a:cxnLst/>
            <a:rect l="l" t="t" r="r" b="b"/>
            <a:pathLst>
              <a:path w="1558036" h="1334068">
                <a:moveTo>
                  <a:pt x="0" y="0"/>
                </a:moveTo>
                <a:lnTo>
                  <a:pt x="1558036" y="0"/>
                </a:lnTo>
                <a:lnTo>
                  <a:pt x="1558036" y="1334068"/>
                </a:lnTo>
                <a:lnTo>
                  <a:pt x="0" y="13340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203172" y="1854354"/>
            <a:ext cx="9085411" cy="142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Business Case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00742" y="4048951"/>
            <a:ext cx="2428405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000" dirty="0">
                <a:solidFill>
                  <a:srgbClr val="281574"/>
                </a:solidFill>
                <a:latin typeface="Rubik"/>
                <a:ea typeface="Rubik"/>
                <a:cs typeface="Rubik"/>
                <a:sym typeface="Rubik"/>
              </a:rPr>
              <a:t>Solves Problem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63823" y="4048951"/>
            <a:ext cx="2428405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0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Financial Case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322821" y="4048951"/>
            <a:ext cx="2525370" cy="46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000">
                <a:solidFill>
                  <a:srgbClr val="281574"/>
                </a:solidFill>
                <a:latin typeface="Rubik"/>
                <a:ea typeface="Rubik"/>
                <a:cs typeface="Rubik"/>
                <a:sym typeface="Rubik"/>
              </a:rPr>
              <a:t>Strategic Fit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01491" y="5584190"/>
            <a:ext cx="4088637" cy="2759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420"/>
              </a:lnSpc>
              <a:buFont typeface="Arial"/>
              <a:buChar char="•"/>
            </a:pPr>
            <a:r>
              <a:rPr lang="en-US" sz="2000" dirty="0">
                <a:solidFill>
                  <a:srgbClr val="281574"/>
                </a:solidFill>
                <a:latin typeface="Rubik Light"/>
                <a:ea typeface="Rubik Light"/>
                <a:cs typeface="Rubik Light"/>
                <a:sym typeface="Rubik Light"/>
              </a:rPr>
              <a:t>Replaces high-friction phone calls with frictionless mobile chat — directly targeting the #1 churn driver.</a:t>
            </a:r>
          </a:p>
          <a:p>
            <a:pPr algn="l">
              <a:lnSpc>
                <a:spcPts val="2420"/>
              </a:lnSpc>
            </a:pPr>
            <a:endParaRPr lang="en-US" sz="2000" dirty="0">
              <a:solidFill>
                <a:srgbClr val="281574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431801" lvl="1" indent="-215900" algn="l">
              <a:lnSpc>
                <a:spcPts val="2420"/>
              </a:lnSpc>
              <a:buFont typeface="Arial"/>
              <a:buChar char="•"/>
            </a:pPr>
            <a:r>
              <a:rPr lang="en-US" sz="2000" dirty="0">
                <a:solidFill>
                  <a:srgbClr val="281574"/>
                </a:solidFill>
                <a:latin typeface="Rubik Light"/>
                <a:ea typeface="Rubik Light"/>
                <a:cs typeface="Rubik Light"/>
                <a:sym typeface="Rubik Light"/>
              </a:rPr>
              <a:t>Generates structured insight into churn drivers currently missing from data.</a:t>
            </a:r>
          </a:p>
          <a:p>
            <a:pPr algn="l">
              <a:lnSpc>
                <a:spcPts val="2420"/>
              </a:lnSpc>
            </a:pPr>
            <a:endParaRPr lang="en-US" sz="2000" dirty="0">
              <a:solidFill>
                <a:srgbClr val="281574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697872" y="5584190"/>
            <a:ext cx="4088637" cy="3674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420"/>
              </a:lnSpc>
              <a:buFont typeface="Arial"/>
              <a:buChar char="•"/>
            </a:pPr>
            <a:r>
              <a:rPr lang="en-US" sz="2000">
                <a:solidFill>
                  <a:srgbClr val="281574"/>
                </a:solidFill>
                <a:latin typeface="Rubik Light"/>
                <a:ea typeface="Rubik Light"/>
                <a:cs typeface="Rubik Light"/>
                <a:sym typeface="Rubik Light"/>
              </a:rPr>
              <a:t>Reduces churn → increases CLV.</a:t>
            </a:r>
          </a:p>
          <a:p>
            <a:pPr algn="l">
              <a:lnSpc>
                <a:spcPts val="2420"/>
              </a:lnSpc>
            </a:pPr>
            <a:endParaRPr lang="en-US" sz="2000">
              <a:solidFill>
                <a:srgbClr val="281574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431801" lvl="1" indent="-215900" algn="l">
              <a:lnSpc>
                <a:spcPts val="2420"/>
              </a:lnSpc>
              <a:buFont typeface="Arial"/>
              <a:buChar char="•"/>
            </a:pPr>
            <a:r>
              <a:rPr lang="en-US" sz="2000">
                <a:solidFill>
                  <a:srgbClr val="281574"/>
                </a:solidFill>
                <a:latin typeface="Rubik Light"/>
                <a:ea typeface="Rubik Light"/>
                <a:cs typeface="Rubik Light"/>
                <a:sym typeface="Rubik Light"/>
              </a:rPr>
              <a:t>Encourages mobile app engagement.</a:t>
            </a:r>
          </a:p>
          <a:p>
            <a:pPr algn="l">
              <a:lnSpc>
                <a:spcPts val="2420"/>
              </a:lnSpc>
            </a:pPr>
            <a:endParaRPr lang="en-US" sz="2000">
              <a:solidFill>
                <a:srgbClr val="281574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431801" lvl="1" indent="-215900" algn="l">
              <a:lnSpc>
                <a:spcPts val="2420"/>
              </a:lnSpc>
              <a:buFont typeface="Arial"/>
              <a:buChar char="•"/>
            </a:pPr>
            <a:r>
              <a:rPr lang="en-US" sz="2000">
                <a:solidFill>
                  <a:srgbClr val="281574"/>
                </a:solidFill>
                <a:latin typeface="Rubik Light"/>
                <a:ea typeface="Rubik Light"/>
                <a:cs typeface="Rubik Light"/>
                <a:sym typeface="Rubik Light"/>
              </a:rPr>
              <a:t>Leverages the mobile app already beloved by customers.</a:t>
            </a:r>
          </a:p>
          <a:p>
            <a:pPr algn="l">
              <a:lnSpc>
                <a:spcPts val="2420"/>
              </a:lnSpc>
            </a:pPr>
            <a:endParaRPr lang="en-US" sz="2000">
              <a:solidFill>
                <a:srgbClr val="281574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431801" lvl="1" indent="-215900" algn="l">
              <a:lnSpc>
                <a:spcPts val="2420"/>
              </a:lnSpc>
              <a:buFont typeface="Arial"/>
              <a:buChar char="•"/>
            </a:pPr>
            <a:r>
              <a:rPr lang="en-US" sz="2000">
                <a:solidFill>
                  <a:srgbClr val="281574"/>
                </a:solidFill>
                <a:latin typeface="Rubik Light"/>
                <a:ea typeface="Rubik Light"/>
                <a:cs typeface="Rubik Light"/>
                <a:sym typeface="Rubik Light"/>
              </a:rPr>
              <a:t>Leverages the mobile app already beloved by customers.</a:t>
            </a:r>
          </a:p>
          <a:p>
            <a:pPr algn="l">
              <a:lnSpc>
                <a:spcPts val="2420"/>
              </a:lnSpc>
            </a:pPr>
            <a:endParaRPr lang="en-US" sz="2000">
              <a:solidFill>
                <a:srgbClr val="281574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061386" y="5584190"/>
            <a:ext cx="4088637" cy="215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42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ubik Light"/>
                <a:ea typeface="Rubik Light"/>
                <a:cs typeface="Rubik Light"/>
                <a:sym typeface="Rubik Light"/>
              </a:rPr>
              <a:t>Expected NPV of ~+$1.8M using DCF model.</a:t>
            </a:r>
          </a:p>
          <a:p>
            <a:pPr algn="l">
              <a:lnSpc>
                <a:spcPts val="2420"/>
              </a:lnSpc>
            </a:pPr>
            <a:endParaRPr lang="en-US" sz="2000">
              <a:solidFill>
                <a:srgbClr val="FFFFFF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431801" lvl="1" indent="-215900" algn="l">
              <a:lnSpc>
                <a:spcPts val="242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Rubik Light"/>
                <a:ea typeface="Rubik Light"/>
                <a:cs typeface="Rubik Light"/>
                <a:sym typeface="Rubik Light"/>
              </a:rPr>
              <a:t>Includes an abandon option if retention doesn't improve after Year 1.</a:t>
            </a:r>
          </a:p>
          <a:p>
            <a:pPr algn="l">
              <a:lnSpc>
                <a:spcPts val="2420"/>
              </a:lnSpc>
            </a:pPr>
            <a:endParaRPr lang="en-US" sz="2000">
              <a:solidFill>
                <a:srgbClr val="FFFFFF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BECE51-AC8E-A145-ADCD-099DA2491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93C0C1F3-06D5-75CB-0691-1894523B43DC}"/>
              </a:ext>
            </a:extLst>
          </p:cNvPr>
          <p:cNvSpPr txBox="1"/>
          <p:nvPr/>
        </p:nvSpPr>
        <p:spPr>
          <a:xfrm>
            <a:off x="965387" y="3548986"/>
            <a:ext cx="5235148" cy="57093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E9D014F-77A2-A8F3-D2B8-9142AB246D8E}"/>
              </a:ext>
            </a:extLst>
          </p:cNvPr>
          <p:cNvSpPr txBox="1"/>
          <p:nvPr/>
        </p:nvSpPr>
        <p:spPr>
          <a:xfrm>
            <a:off x="6528468" y="3548986"/>
            <a:ext cx="5235148" cy="57093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044AB5A-2F04-1E94-33A8-9FB1B54624DA}"/>
              </a:ext>
            </a:extLst>
          </p:cNvPr>
          <p:cNvSpPr txBox="1"/>
          <p:nvPr/>
        </p:nvSpPr>
        <p:spPr>
          <a:xfrm>
            <a:off x="12087466" y="3548986"/>
            <a:ext cx="5235148" cy="57093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4FEDE889-6525-FD5E-1EDB-F57E36CB1B53}"/>
              </a:ext>
            </a:extLst>
          </p:cNvPr>
          <p:cNvSpPr txBox="1"/>
          <p:nvPr/>
        </p:nvSpPr>
        <p:spPr>
          <a:xfrm>
            <a:off x="1203172" y="1854354"/>
            <a:ext cx="13626768" cy="1168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 dirty="0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What we are building</a:t>
            </a:r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E1D89083-B65E-FC76-74A1-6E8A63720EFA}"/>
              </a:ext>
            </a:extLst>
          </p:cNvPr>
          <p:cNvSpPr txBox="1"/>
          <p:nvPr/>
        </p:nvSpPr>
        <p:spPr>
          <a:xfrm>
            <a:off x="1311523" y="1215082"/>
            <a:ext cx="1566047" cy="39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sz="3000" dirty="0">
                <a:solidFill>
                  <a:srgbClr val="FFFFFF"/>
                </a:solidFill>
                <a:latin typeface="Rubik Light"/>
                <a:ea typeface="Rubik Light"/>
                <a:cs typeface="Rubik Light"/>
                <a:sym typeface="Rubik Light"/>
              </a:rPr>
              <a:t>MVP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4B966AB-FA31-F894-5EDE-2822467704C7}"/>
              </a:ext>
            </a:extLst>
          </p:cNvPr>
          <p:cNvSpPr/>
          <p:nvPr/>
        </p:nvSpPr>
        <p:spPr>
          <a:xfrm>
            <a:off x="967927" y="3919525"/>
            <a:ext cx="5235148" cy="1681175"/>
          </a:xfrm>
          <a:custGeom>
            <a:avLst/>
            <a:gdLst/>
            <a:ahLst/>
            <a:cxnLst/>
            <a:rect l="l" t="t" r="r" b="b"/>
            <a:pathLst>
              <a:path w="1378804" h="1465588">
                <a:moveTo>
                  <a:pt x="42886" y="0"/>
                </a:moveTo>
                <a:lnTo>
                  <a:pt x="1335918" y="0"/>
                </a:lnTo>
                <a:cubicBezTo>
                  <a:pt x="1359604" y="0"/>
                  <a:pt x="1378804" y="19201"/>
                  <a:pt x="1378804" y="42886"/>
                </a:cubicBezTo>
                <a:lnTo>
                  <a:pt x="1378804" y="1422701"/>
                </a:lnTo>
                <a:cubicBezTo>
                  <a:pt x="1378804" y="1446387"/>
                  <a:pt x="1359604" y="1465588"/>
                  <a:pt x="1335918" y="1465588"/>
                </a:cubicBezTo>
                <a:lnTo>
                  <a:pt x="42886" y="1465588"/>
                </a:lnTo>
                <a:cubicBezTo>
                  <a:pt x="19201" y="1465588"/>
                  <a:pt x="0" y="1446387"/>
                  <a:pt x="0" y="1422701"/>
                </a:cubicBezTo>
                <a:lnTo>
                  <a:pt x="0" y="42886"/>
                </a:lnTo>
                <a:cubicBezTo>
                  <a:pt x="0" y="19201"/>
                  <a:pt x="19201" y="0"/>
                  <a:pt x="42886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BC8F4D7-E838-32D2-E4ED-CCBC5D22265F}"/>
              </a:ext>
            </a:extLst>
          </p:cNvPr>
          <p:cNvSpPr/>
          <p:nvPr/>
        </p:nvSpPr>
        <p:spPr>
          <a:xfrm>
            <a:off x="6531008" y="3919525"/>
            <a:ext cx="5235148" cy="1681175"/>
          </a:xfrm>
          <a:custGeom>
            <a:avLst/>
            <a:gdLst/>
            <a:ahLst/>
            <a:cxnLst/>
            <a:rect l="l" t="t" r="r" b="b"/>
            <a:pathLst>
              <a:path w="1378804" h="1465588">
                <a:moveTo>
                  <a:pt x="42886" y="0"/>
                </a:moveTo>
                <a:lnTo>
                  <a:pt x="1335918" y="0"/>
                </a:lnTo>
                <a:cubicBezTo>
                  <a:pt x="1359604" y="0"/>
                  <a:pt x="1378804" y="19201"/>
                  <a:pt x="1378804" y="42886"/>
                </a:cubicBezTo>
                <a:lnTo>
                  <a:pt x="1378804" y="1422701"/>
                </a:lnTo>
                <a:cubicBezTo>
                  <a:pt x="1378804" y="1446387"/>
                  <a:pt x="1359604" y="1465588"/>
                  <a:pt x="1335918" y="1465588"/>
                </a:cubicBezTo>
                <a:lnTo>
                  <a:pt x="42886" y="1465588"/>
                </a:lnTo>
                <a:cubicBezTo>
                  <a:pt x="19201" y="1465588"/>
                  <a:pt x="0" y="1446387"/>
                  <a:pt x="0" y="1422701"/>
                </a:cubicBezTo>
                <a:lnTo>
                  <a:pt x="0" y="42886"/>
                </a:lnTo>
                <a:cubicBezTo>
                  <a:pt x="0" y="19201"/>
                  <a:pt x="19201" y="0"/>
                  <a:pt x="42886" y="0"/>
                </a:cubicBezTo>
                <a:close/>
              </a:path>
            </a:pathLst>
          </a:custGeom>
          <a:solidFill>
            <a:srgbClr val="9F56FF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8D4DE6F-1191-585F-A4B8-F102A3622D25}"/>
              </a:ext>
            </a:extLst>
          </p:cNvPr>
          <p:cNvSpPr/>
          <p:nvPr/>
        </p:nvSpPr>
        <p:spPr>
          <a:xfrm>
            <a:off x="12090006" y="3919525"/>
            <a:ext cx="5235148" cy="1681175"/>
          </a:xfrm>
          <a:custGeom>
            <a:avLst/>
            <a:gdLst/>
            <a:ahLst/>
            <a:cxnLst/>
            <a:rect l="l" t="t" r="r" b="b"/>
            <a:pathLst>
              <a:path w="1378804" h="1465588">
                <a:moveTo>
                  <a:pt x="42886" y="0"/>
                </a:moveTo>
                <a:lnTo>
                  <a:pt x="1335918" y="0"/>
                </a:lnTo>
                <a:cubicBezTo>
                  <a:pt x="1359604" y="0"/>
                  <a:pt x="1378804" y="19201"/>
                  <a:pt x="1378804" y="42886"/>
                </a:cubicBezTo>
                <a:lnTo>
                  <a:pt x="1378804" y="1422701"/>
                </a:lnTo>
                <a:cubicBezTo>
                  <a:pt x="1378804" y="1446387"/>
                  <a:pt x="1359604" y="1465588"/>
                  <a:pt x="1335918" y="1465588"/>
                </a:cubicBezTo>
                <a:lnTo>
                  <a:pt x="42886" y="1465588"/>
                </a:lnTo>
                <a:cubicBezTo>
                  <a:pt x="19201" y="1465588"/>
                  <a:pt x="0" y="1446387"/>
                  <a:pt x="0" y="1422701"/>
                </a:cubicBezTo>
                <a:lnTo>
                  <a:pt x="0" y="42886"/>
                </a:lnTo>
                <a:cubicBezTo>
                  <a:pt x="0" y="19201"/>
                  <a:pt x="19201" y="0"/>
                  <a:pt x="42886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2505858-578B-0368-7417-0D87550A0245}"/>
              </a:ext>
            </a:extLst>
          </p:cNvPr>
          <p:cNvSpPr txBox="1"/>
          <p:nvPr/>
        </p:nvSpPr>
        <p:spPr>
          <a:xfrm>
            <a:off x="3203282" y="4274829"/>
            <a:ext cx="2428405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29"/>
              </a:lnSpc>
            </a:pPr>
            <a:r>
              <a:rPr lang="en-US" sz="3000" dirty="0">
                <a:solidFill>
                  <a:srgbClr val="281574"/>
                </a:solidFill>
                <a:latin typeface="Rubik"/>
                <a:ea typeface="Rubik"/>
                <a:cs typeface="Rubik"/>
                <a:sym typeface="Rubik"/>
              </a:rPr>
              <a:t>Customer Experience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3304D8C-6B09-6437-3244-C90872CA43CD}"/>
              </a:ext>
            </a:extLst>
          </p:cNvPr>
          <p:cNvSpPr txBox="1"/>
          <p:nvPr/>
        </p:nvSpPr>
        <p:spPr>
          <a:xfrm>
            <a:off x="8766363" y="4274829"/>
            <a:ext cx="2428405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29"/>
              </a:lnSpc>
            </a:pPr>
            <a:r>
              <a:rPr lang="en-US" sz="3000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Structured Data Capture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6A4FBB5-ECEA-9968-2F75-A91D18277727}"/>
              </a:ext>
            </a:extLst>
          </p:cNvPr>
          <p:cNvSpPr txBox="1"/>
          <p:nvPr/>
        </p:nvSpPr>
        <p:spPr>
          <a:xfrm>
            <a:off x="14325361" y="4274829"/>
            <a:ext cx="252537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29"/>
              </a:lnSpc>
            </a:pPr>
            <a:r>
              <a:rPr lang="en-US" sz="3000" dirty="0">
                <a:solidFill>
                  <a:srgbClr val="281574"/>
                </a:solidFill>
                <a:latin typeface="Rubik"/>
                <a:ea typeface="Rubik"/>
                <a:cs typeface="Rubik"/>
                <a:sym typeface="Rubik"/>
              </a:rPr>
              <a:t>System Enablement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DC7E757-D2D9-3441-3FFA-DFD9FB0B44A4}"/>
              </a:ext>
            </a:extLst>
          </p:cNvPr>
          <p:cNvSpPr txBox="1"/>
          <p:nvPr/>
        </p:nvSpPr>
        <p:spPr>
          <a:xfrm>
            <a:off x="1504031" y="5810068"/>
            <a:ext cx="4088637" cy="3447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>
              <a:lnSpc>
                <a:spcPts val="3024"/>
              </a:lnSpc>
              <a:buFont typeface="Arial"/>
              <a:buChar char="•"/>
            </a:pPr>
            <a:r>
              <a:rPr lang="en-US" sz="2499" dirty="0">
                <a:solidFill>
                  <a:schemeClr val="bg1"/>
                </a:solidFill>
                <a:latin typeface="Rubik Light"/>
                <a:ea typeface="Rubik Light"/>
                <a:cs typeface="Rubik Light"/>
                <a:sym typeface="Rubik Light"/>
              </a:rPr>
              <a:t>In-app 'Chat Now' entry point</a:t>
            </a:r>
          </a:p>
          <a:p>
            <a:pPr>
              <a:lnSpc>
                <a:spcPts val="3024"/>
              </a:lnSpc>
            </a:pPr>
            <a:endParaRPr lang="en-US" sz="2499" dirty="0">
              <a:solidFill>
                <a:schemeClr val="bg1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539748" lvl="1" indent="-269874">
              <a:lnSpc>
                <a:spcPts val="3024"/>
              </a:lnSpc>
              <a:buFont typeface="Arial"/>
              <a:buChar char="•"/>
            </a:pPr>
            <a:r>
              <a:rPr lang="en-US" sz="2499" dirty="0">
                <a:solidFill>
                  <a:schemeClr val="bg1"/>
                </a:solidFill>
                <a:latin typeface="Rubik Light"/>
                <a:ea typeface="Rubik Light"/>
                <a:cs typeface="Rubik Light"/>
                <a:sym typeface="Rubik Light"/>
              </a:rPr>
              <a:t>Real-time chat with live agents</a:t>
            </a:r>
          </a:p>
          <a:p>
            <a:pPr>
              <a:lnSpc>
                <a:spcPts val="3024"/>
              </a:lnSpc>
            </a:pPr>
            <a:endParaRPr lang="en-US" sz="2499" dirty="0">
              <a:solidFill>
                <a:schemeClr val="bg1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539748" lvl="1" indent="-269874">
              <a:lnSpc>
                <a:spcPts val="3024"/>
              </a:lnSpc>
              <a:buFont typeface="Arial"/>
              <a:buChar char="•"/>
            </a:pPr>
            <a:r>
              <a:rPr lang="en-US" sz="2499" dirty="0">
                <a:solidFill>
                  <a:schemeClr val="bg1"/>
                </a:solidFill>
                <a:latin typeface="Rubik Light"/>
                <a:ea typeface="Rubik Light"/>
                <a:cs typeface="Rubik Light"/>
                <a:sym typeface="Rubik Light"/>
              </a:rPr>
              <a:t>AI-guided chat for fast resolution</a:t>
            </a:r>
          </a:p>
          <a:p>
            <a:pPr>
              <a:lnSpc>
                <a:spcPts val="3024"/>
              </a:lnSpc>
            </a:pPr>
            <a:endParaRPr lang="en-US" sz="2499" dirty="0">
              <a:solidFill>
                <a:schemeClr val="bg1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085587A-FC9E-6AE0-114F-CCD981D5A04B}"/>
              </a:ext>
            </a:extLst>
          </p:cNvPr>
          <p:cNvSpPr txBox="1"/>
          <p:nvPr/>
        </p:nvSpPr>
        <p:spPr>
          <a:xfrm>
            <a:off x="12700412" y="5810068"/>
            <a:ext cx="4088637" cy="1908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>
              <a:lnSpc>
                <a:spcPts val="3024"/>
              </a:lnSpc>
              <a:buFont typeface="Arial"/>
              <a:buChar char="•"/>
            </a:pPr>
            <a:r>
              <a:rPr lang="en-US" sz="2499" dirty="0">
                <a:solidFill>
                  <a:schemeClr val="bg1"/>
                </a:solidFill>
                <a:latin typeface="Rubik Light"/>
                <a:ea typeface="Rubik Light"/>
                <a:cs typeface="Rubik Light"/>
                <a:sym typeface="Rubik Light"/>
              </a:rPr>
              <a:t>Integration with account + order history</a:t>
            </a:r>
          </a:p>
          <a:p>
            <a:pPr>
              <a:lnSpc>
                <a:spcPts val="3024"/>
              </a:lnSpc>
            </a:pPr>
            <a:endParaRPr lang="en-US" sz="2499" dirty="0">
              <a:solidFill>
                <a:schemeClr val="bg1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539748" lvl="1" indent="-269874">
              <a:lnSpc>
                <a:spcPts val="3024"/>
              </a:lnSpc>
              <a:buFont typeface="Arial"/>
              <a:buChar char="•"/>
            </a:pPr>
            <a:r>
              <a:rPr lang="en-US" sz="2499" dirty="0">
                <a:solidFill>
                  <a:schemeClr val="bg1"/>
                </a:solidFill>
                <a:latin typeface="Rubik Light"/>
                <a:ea typeface="Rubik Light"/>
                <a:cs typeface="Rubik Light"/>
                <a:sym typeface="Rubik Light"/>
              </a:rPr>
              <a:t>Centralized database for all interactions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7632589-09A6-FFD3-0C5E-7ABCEB97E3D4}"/>
              </a:ext>
            </a:extLst>
          </p:cNvPr>
          <p:cNvSpPr txBox="1"/>
          <p:nvPr/>
        </p:nvSpPr>
        <p:spPr>
          <a:xfrm>
            <a:off x="7063926" y="5810068"/>
            <a:ext cx="4088637" cy="3447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>
              <a:lnSpc>
                <a:spcPts val="3024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Rubik Light"/>
                <a:ea typeface="Rubik Light"/>
                <a:cs typeface="Rubik Light"/>
                <a:sym typeface="Rubik Light"/>
              </a:rPr>
              <a:t>Guided intake: issue type, order ID</a:t>
            </a:r>
          </a:p>
          <a:p>
            <a:pPr>
              <a:lnSpc>
                <a:spcPts val="3024"/>
              </a:lnSpc>
            </a:pPr>
            <a:endParaRPr lang="en-US" sz="2499" dirty="0">
              <a:solidFill>
                <a:srgbClr val="FFFFFF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539748" lvl="1" indent="-269874">
              <a:lnSpc>
                <a:spcPts val="3024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Rubik Light"/>
                <a:ea typeface="Rubik Light"/>
                <a:cs typeface="Rubik Light"/>
                <a:sym typeface="Rubik Light"/>
              </a:rPr>
              <a:t>Auto-logging of interaction metadata</a:t>
            </a:r>
          </a:p>
          <a:p>
            <a:pPr>
              <a:lnSpc>
                <a:spcPts val="3024"/>
              </a:lnSpc>
            </a:pPr>
            <a:endParaRPr lang="en-US" sz="2499" dirty="0">
              <a:solidFill>
                <a:srgbClr val="FFFFFF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539748" lvl="1" indent="-269874">
              <a:lnSpc>
                <a:spcPts val="3024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Rubik Light"/>
                <a:ea typeface="Rubik Light"/>
                <a:cs typeface="Rubik Light"/>
                <a:sym typeface="Rubik Light"/>
              </a:rPr>
              <a:t>Post-chat CSAT survey (1–5)</a:t>
            </a:r>
          </a:p>
          <a:p>
            <a:pPr>
              <a:lnSpc>
                <a:spcPts val="3024"/>
              </a:lnSpc>
            </a:pPr>
            <a:endParaRPr lang="en-US" sz="2499" dirty="0">
              <a:solidFill>
                <a:srgbClr val="FFFFFF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28" name="Freeform 13">
            <a:extLst>
              <a:ext uri="{FF2B5EF4-FFF2-40B4-BE49-F238E27FC236}">
                <a16:creationId xmlns:a16="http://schemas.microsoft.com/office/drawing/2014/main" id="{27864700-6710-6DEA-BC15-12686FB80F1D}"/>
              </a:ext>
            </a:extLst>
          </p:cNvPr>
          <p:cNvSpPr/>
          <p:nvPr/>
        </p:nvSpPr>
        <p:spPr>
          <a:xfrm>
            <a:off x="7082848" y="4140680"/>
            <a:ext cx="1186926" cy="1197815"/>
          </a:xfrm>
          <a:custGeom>
            <a:avLst/>
            <a:gdLst/>
            <a:ahLst/>
            <a:cxnLst/>
            <a:rect l="l" t="t" r="r" b="b"/>
            <a:pathLst>
              <a:path w="1186926" h="1197815">
                <a:moveTo>
                  <a:pt x="0" y="0"/>
                </a:moveTo>
                <a:lnTo>
                  <a:pt x="1186926" y="0"/>
                </a:lnTo>
                <a:lnTo>
                  <a:pt x="1186926" y="1197815"/>
                </a:lnTo>
                <a:lnTo>
                  <a:pt x="0" y="11978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16">
            <a:extLst>
              <a:ext uri="{FF2B5EF4-FFF2-40B4-BE49-F238E27FC236}">
                <a16:creationId xmlns:a16="http://schemas.microsoft.com/office/drawing/2014/main" id="{3263D648-79C6-AAF7-1F0F-BA7E889DDD2F}"/>
              </a:ext>
            </a:extLst>
          </p:cNvPr>
          <p:cNvSpPr/>
          <p:nvPr/>
        </p:nvSpPr>
        <p:spPr>
          <a:xfrm>
            <a:off x="1686583" y="4142521"/>
            <a:ext cx="1166380" cy="1271259"/>
          </a:xfrm>
          <a:custGeom>
            <a:avLst/>
            <a:gdLst/>
            <a:ahLst/>
            <a:cxnLst/>
            <a:rect l="l" t="t" r="r" b="b"/>
            <a:pathLst>
              <a:path w="1166380" h="1271259">
                <a:moveTo>
                  <a:pt x="0" y="0"/>
                </a:moveTo>
                <a:lnTo>
                  <a:pt x="1166380" y="0"/>
                </a:lnTo>
                <a:lnTo>
                  <a:pt x="1166380" y="1271259"/>
                </a:lnTo>
                <a:lnTo>
                  <a:pt x="0" y="12712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17">
            <a:extLst>
              <a:ext uri="{FF2B5EF4-FFF2-40B4-BE49-F238E27FC236}">
                <a16:creationId xmlns:a16="http://schemas.microsoft.com/office/drawing/2014/main" id="{5629A1ED-8E60-139C-62D5-8F3425D3D3C6}"/>
              </a:ext>
            </a:extLst>
          </p:cNvPr>
          <p:cNvSpPr/>
          <p:nvPr/>
        </p:nvSpPr>
        <p:spPr>
          <a:xfrm>
            <a:off x="12607072" y="4113261"/>
            <a:ext cx="1224601" cy="1243249"/>
          </a:xfrm>
          <a:custGeom>
            <a:avLst/>
            <a:gdLst/>
            <a:ahLst/>
            <a:cxnLst/>
            <a:rect l="l" t="t" r="r" b="b"/>
            <a:pathLst>
              <a:path w="1224601" h="1243249">
                <a:moveTo>
                  <a:pt x="0" y="0"/>
                </a:moveTo>
                <a:lnTo>
                  <a:pt x="1224601" y="0"/>
                </a:lnTo>
                <a:lnTo>
                  <a:pt x="1224601" y="1243250"/>
                </a:lnTo>
                <a:lnTo>
                  <a:pt x="0" y="1243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23">
            <a:extLst>
              <a:ext uri="{FF2B5EF4-FFF2-40B4-BE49-F238E27FC236}">
                <a16:creationId xmlns:a16="http://schemas.microsoft.com/office/drawing/2014/main" id="{973C3714-2292-7F22-9D46-47F2C28E7456}"/>
              </a:ext>
            </a:extLst>
          </p:cNvPr>
          <p:cNvSpPr txBox="1"/>
          <p:nvPr/>
        </p:nvSpPr>
        <p:spPr>
          <a:xfrm>
            <a:off x="967926" y="3280564"/>
            <a:ext cx="1635722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000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Goal: Prove customers will use in-app chat and capture churn driver insights</a:t>
            </a:r>
          </a:p>
          <a:p>
            <a:pPr algn="l">
              <a:lnSpc>
                <a:spcPts val="3629"/>
              </a:lnSpc>
            </a:pPr>
            <a:endParaRPr lang="en-US" sz="3000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  <p:extLst>
      <p:ext uri="{BB962C8B-B14F-4D97-AF65-F5344CB8AC3E}">
        <p14:creationId xmlns:p14="http://schemas.microsoft.com/office/powerpoint/2010/main" val="1072992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456E25-9579-B906-71ED-A5EEEF5B9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D7A71138-C139-4A9B-E398-10263BCCD378}"/>
              </a:ext>
            </a:extLst>
          </p:cNvPr>
          <p:cNvSpPr/>
          <p:nvPr/>
        </p:nvSpPr>
        <p:spPr>
          <a:xfrm>
            <a:off x="1004624" y="3919525"/>
            <a:ext cx="5235148" cy="1682496"/>
          </a:xfrm>
          <a:custGeom>
            <a:avLst/>
            <a:gdLst/>
            <a:ahLst/>
            <a:cxnLst/>
            <a:rect l="l" t="t" r="r" b="b"/>
            <a:pathLst>
              <a:path w="1378804" h="1465588">
                <a:moveTo>
                  <a:pt x="42886" y="0"/>
                </a:moveTo>
                <a:lnTo>
                  <a:pt x="1335918" y="0"/>
                </a:lnTo>
                <a:cubicBezTo>
                  <a:pt x="1359604" y="0"/>
                  <a:pt x="1378804" y="19201"/>
                  <a:pt x="1378804" y="42886"/>
                </a:cubicBezTo>
                <a:lnTo>
                  <a:pt x="1378804" y="1422701"/>
                </a:lnTo>
                <a:cubicBezTo>
                  <a:pt x="1378804" y="1446387"/>
                  <a:pt x="1359604" y="1465588"/>
                  <a:pt x="1335918" y="1465588"/>
                </a:cubicBezTo>
                <a:lnTo>
                  <a:pt x="42886" y="1465588"/>
                </a:lnTo>
                <a:cubicBezTo>
                  <a:pt x="19201" y="1465588"/>
                  <a:pt x="0" y="1446387"/>
                  <a:pt x="0" y="1422701"/>
                </a:cubicBezTo>
                <a:lnTo>
                  <a:pt x="0" y="42886"/>
                </a:lnTo>
                <a:cubicBezTo>
                  <a:pt x="0" y="19201"/>
                  <a:pt x="19201" y="0"/>
                  <a:pt x="42886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804582D-EA70-6451-9701-2B7E831CC666}"/>
              </a:ext>
            </a:extLst>
          </p:cNvPr>
          <p:cNvSpPr/>
          <p:nvPr/>
        </p:nvSpPr>
        <p:spPr>
          <a:xfrm>
            <a:off x="6567705" y="3919525"/>
            <a:ext cx="5235148" cy="1682496"/>
          </a:xfrm>
          <a:custGeom>
            <a:avLst/>
            <a:gdLst/>
            <a:ahLst/>
            <a:cxnLst/>
            <a:rect l="l" t="t" r="r" b="b"/>
            <a:pathLst>
              <a:path w="1378804" h="1465588">
                <a:moveTo>
                  <a:pt x="42886" y="0"/>
                </a:moveTo>
                <a:lnTo>
                  <a:pt x="1335918" y="0"/>
                </a:lnTo>
                <a:cubicBezTo>
                  <a:pt x="1359604" y="0"/>
                  <a:pt x="1378804" y="19201"/>
                  <a:pt x="1378804" y="42886"/>
                </a:cubicBezTo>
                <a:lnTo>
                  <a:pt x="1378804" y="1422701"/>
                </a:lnTo>
                <a:cubicBezTo>
                  <a:pt x="1378804" y="1446387"/>
                  <a:pt x="1359604" y="1465588"/>
                  <a:pt x="1335918" y="1465588"/>
                </a:cubicBezTo>
                <a:lnTo>
                  <a:pt x="42886" y="1465588"/>
                </a:lnTo>
                <a:cubicBezTo>
                  <a:pt x="19201" y="1465588"/>
                  <a:pt x="0" y="1446387"/>
                  <a:pt x="0" y="1422701"/>
                </a:cubicBezTo>
                <a:lnTo>
                  <a:pt x="0" y="42886"/>
                </a:lnTo>
                <a:cubicBezTo>
                  <a:pt x="0" y="19201"/>
                  <a:pt x="19201" y="0"/>
                  <a:pt x="42886" y="0"/>
                </a:cubicBezTo>
                <a:close/>
              </a:path>
            </a:pathLst>
          </a:custGeom>
          <a:solidFill>
            <a:srgbClr val="9F56FF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D1B1871-122E-FF13-1A82-2DAFD11AE645}"/>
              </a:ext>
            </a:extLst>
          </p:cNvPr>
          <p:cNvSpPr/>
          <p:nvPr/>
        </p:nvSpPr>
        <p:spPr>
          <a:xfrm>
            <a:off x="12126703" y="3919525"/>
            <a:ext cx="5235148" cy="1682496"/>
          </a:xfrm>
          <a:custGeom>
            <a:avLst/>
            <a:gdLst/>
            <a:ahLst/>
            <a:cxnLst/>
            <a:rect l="l" t="t" r="r" b="b"/>
            <a:pathLst>
              <a:path w="1378804" h="1465588">
                <a:moveTo>
                  <a:pt x="42886" y="0"/>
                </a:moveTo>
                <a:lnTo>
                  <a:pt x="1335918" y="0"/>
                </a:lnTo>
                <a:cubicBezTo>
                  <a:pt x="1359604" y="0"/>
                  <a:pt x="1378804" y="19201"/>
                  <a:pt x="1378804" y="42886"/>
                </a:cubicBezTo>
                <a:lnTo>
                  <a:pt x="1378804" y="1422701"/>
                </a:lnTo>
                <a:cubicBezTo>
                  <a:pt x="1378804" y="1446387"/>
                  <a:pt x="1359604" y="1465588"/>
                  <a:pt x="1335918" y="1465588"/>
                </a:cubicBezTo>
                <a:lnTo>
                  <a:pt x="42886" y="1465588"/>
                </a:lnTo>
                <a:cubicBezTo>
                  <a:pt x="19201" y="1465588"/>
                  <a:pt x="0" y="1446387"/>
                  <a:pt x="0" y="1422701"/>
                </a:cubicBezTo>
                <a:lnTo>
                  <a:pt x="0" y="42886"/>
                </a:lnTo>
                <a:cubicBezTo>
                  <a:pt x="0" y="19201"/>
                  <a:pt x="19201" y="0"/>
                  <a:pt x="42886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Freeform 15">
            <a:extLst>
              <a:ext uri="{FF2B5EF4-FFF2-40B4-BE49-F238E27FC236}">
                <a16:creationId xmlns:a16="http://schemas.microsoft.com/office/drawing/2014/main" id="{ECC93AD3-D4D1-5CB5-37F5-0FCBA8E10700}"/>
              </a:ext>
            </a:extLst>
          </p:cNvPr>
          <p:cNvSpPr/>
          <p:nvPr/>
        </p:nvSpPr>
        <p:spPr>
          <a:xfrm>
            <a:off x="1638323" y="4177137"/>
            <a:ext cx="1273723" cy="1273723"/>
          </a:xfrm>
          <a:custGeom>
            <a:avLst/>
            <a:gdLst/>
            <a:ahLst/>
            <a:cxnLst/>
            <a:rect l="l" t="t" r="r" b="b"/>
            <a:pathLst>
              <a:path w="1273723" h="1273723">
                <a:moveTo>
                  <a:pt x="0" y="0"/>
                </a:moveTo>
                <a:lnTo>
                  <a:pt x="1273724" y="0"/>
                </a:lnTo>
                <a:lnTo>
                  <a:pt x="1273724" y="1273724"/>
                </a:lnTo>
                <a:lnTo>
                  <a:pt x="0" y="12737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8BD4D34-4DC5-D20C-A14A-0F2DE4160CC1}"/>
              </a:ext>
            </a:extLst>
          </p:cNvPr>
          <p:cNvSpPr txBox="1"/>
          <p:nvPr/>
        </p:nvSpPr>
        <p:spPr>
          <a:xfrm>
            <a:off x="3239979" y="4274829"/>
            <a:ext cx="2428405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29"/>
              </a:lnSpc>
            </a:pPr>
            <a:r>
              <a:rPr lang="en-US" sz="3000" dirty="0">
                <a:solidFill>
                  <a:srgbClr val="281574"/>
                </a:solidFill>
                <a:latin typeface="Rubik"/>
                <a:ea typeface="Rubik"/>
                <a:cs typeface="Rubik"/>
                <a:sym typeface="Rubik"/>
              </a:rPr>
              <a:t>Customer Experience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87FB795-6A06-85B9-B1D5-4C76D19FE008}"/>
              </a:ext>
            </a:extLst>
          </p:cNvPr>
          <p:cNvSpPr txBox="1"/>
          <p:nvPr/>
        </p:nvSpPr>
        <p:spPr>
          <a:xfrm>
            <a:off x="8803060" y="4274829"/>
            <a:ext cx="2428405" cy="9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29"/>
              </a:lnSpc>
            </a:pPr>
            <a:r>
              <a:rPr lang="en-US" sz="3000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Structured Data Capture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15B80E8-104C-96E4-CB0C-B33B8695BB58}"/>
              </a:ext>
            </a:extLst>
          </p:cNvPr>
          <p:cNvSpPr txBox="1"/>
          <p:nvPr/>
        </p:nvSpPr>
        <p:spPr>
          <a:xfrm>
            <a:off x="14362058" y="4274829"/>
            <a:ext cx="252537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29"/>
              </a:lnSpc>
            </a:pPr>
            <a:r>
              <a:rPr lang="en-US" sz="3000" dirty="0">
                <a:solidFill>
                  <a:srgbClr val="281574"/>
                </a:solidFill>
                <a:latin typeface="Rubik"/>
                <a:ea typeface="Rubik"/>
                <a:cs typeface="Rubik"/>
                <a:sym typeface="Rubik"/>
              </a:rPr>
              <a:t>System Enablement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2D8B2E5-CC31-EEEA-1A80-9083E46B7E9F}"/>
              </a:ext>
            </a:extLst>
          </p:cNvPr>
          <p:cNvSpPr txBox="1"/>
          <p:nvPr/>
        </p:nvSpPr>
        <p:spPr>
          <a:xfrm>
            <a:off x="1540728" y="5810068"/>
            <a:ext cx="4088637" cy="267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>
              <a:lnSpc>
                <a:spcPts val="3024"/>
              </a:lnSpc>
              <a:buFont typeface="Arial"/>
              <a:buChar char="•"/>
            </a:pPr>
            <a:r>
              <a:rPr lang="en-US" sz="2499" dirty="0">
                <a:solidFill>
                  <a:schemeClr val="bg1"/>
                </a:solidFill>
                <a:latin typeface="Rubik Light"/>
                <a:ea typeface="Rubik Light"/>
                <a:cs typeface="Rubik Light"/>
                <a:sym typeface="Rubik Light"/>
              </a:rPr>
              <a:t>AI agents to handle common issues</a:t>
            </a:r>
          </a:p>
          <a:p>
            <a:pPr>
              <a:lnSpc>
                <a:spcPts val="3024"/>
              </a:lnSpc>
            </a:pPr>
            <a:endParaRPr lang="en-US" sz="2499" dirty="0">
              <a:solidFill>
                <a:schemeClr val="bg1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539748" lvl="1" indent="-269874">
              <a:lnSpc>
                <a:spcPts val="3024"/>
              </a:lnSpc>
              <a:buFont typeface="Arial"/>
              <a:buChar char="•"/>
            </a:pPr>
            <a:r>
              <a:rPr lang="en-US" sz="2499" dirty="0">
                <a:solidFill>
                  <a:schemeClr val="bg1"/>
                </a:solidFill>
                <a:latin typeface="Rubik Light"/>
                <a:ea typeface="Rubik Light"/>
                <a:cs typeface="Rubik Light"/>
                <a:sym typeface="Rubik Light"/>
              </a:rPr>
              <a:t>Smart routing + faster escalation</a:t>
            </a:r>
          </a:p>
          <a:p>
            <a:pPr>
              <a:lnSpc>
                <a:spcPts val="3024"/>
              </a:lnSpc>
            </a:pPr>
            <a:endParaRPr lang="en-US" sz="2499" dirty="0">
              <a:solidFill>
                <a:schemeClr val="bg1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>
              <a:lnSpc>
                <a:spcPts val="3024"/>
              </a:lnSpc>
            </a:pPr>
            <a:endParaRPr lang="en-US" sz="2499" dirty="0">
              <a:solidFill>
                <a:schemeClr val="bg1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F94F4BCE-3DF9-630C-6321-8E5716791BBA}"/>
              </a:ext>
            </a:extLst>
          </p:cNvPr>
          <p:cNvSpPr txBox="1"/>
          <p:nvPr/>
        </p:nvSpPr>
        <p:spPr>
          <a:xfrm>
            <a:off x="12737109" y="5810068"/>
            <a:ext cx="4088637" cy="3062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>
              <a:lnSpc>
                <a:spcPts val="3024"/>
              </a:lnSpc>
              <a:buFont typeface="Arial"/>
              <a:buChar char="•"/>
            </a:pPr>
            <a:r>
              <a:rPr lang="en-US" sz="2499" dirty="0">
                <a:solidFill>
                  <a:schemeClr val="bg1"/>
                </a:solidFill>
                <a:latin typeface="Rubik Light"/>
                <a:ea typeface="Rubik Light"/>
                <a:cs typeface="Rubik Light"/>
                <a:sym typeface="Rubik Light"/>
              </a:rPr>
              <a:t>Triggered interventions before churn</a:t>
            </a:r>
          </a:p>
          <a:p>
            <a:pPr>
              <a:lnSpc>
                <a:spcPts val="3024"/>
              </a:lnSpc>
            </a:pPr>
            <a:endParaRPr lang="en-US" sz="2499" dirty="0">
              <a:solidFill>
                <a:schemeClr val="bg1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539748" lvl="1" indent="-269874">
              <a:lnSpc>
                <a:spcPts val="3024"/>
              </a:lnSpc>
              <a:buFont typeface="Arial"/>
              <a:buChar char="•"/>
            </a:pPr>
            <a:r>
              <a:rPr lang="en-US" sz="2499" dirty="0">
                <a:solidFill>
                  <a:schemeClr val="bg1"/>
                </a:solidFill>
                <a:latin typeface="Rubik Light"/>
                <a:ea typeface="Rubik Light"/>
                <a:cs typeface="Rubik Light"/>
                <a:sym typeface="Rubik Light"/>
              </a:rPr>
              <a:t>Predictive issue detection</a:t>
            </a:r>
          </a:p>
          <a:p>
            <a:pPr>
              <a:lnSpc>
                <a:spcPts val="3024"/>
              </a:lnSpc>
            </a:pPr>
            <a:endParaRPr lang="en-US" sz="2499" dirty="0">
              <a:solidFill>
                <a:schemeClr val="bg1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539748" lvl="1" indent="-269874">
              <a:lnSpc>
                <a:spcPts val="3024"/>
              </a:lnSpc>
              <a:buFont typeface="Arial"/>
              <a:buChar char="•"/>
            </a:pPr>
            <a:r>
              <a:rPr lang="en-US" sz="2499" dirty="0">
                <a:solidFill>
                  <a:schemeClr val="bg1"/>
                </a:solidFill>
                <a:latin typeface="Rubik Light"/>
                <a:ea typeface="Rubik Light"/>
                <a:cs typeface="Rubik Light"/>
                <a:sym typeface="Rubik Light"/>
              </a:rPr>
              <a:t>AI-powered insights for leadership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1E94CB7-D5B2-3208-7200-D78107EEB359}"/>
              </a:ext>
            </a:extLst>
          </p:cNvPr>
          <p:cNvSpPr txBox="1"/>
          <p:nvPr/>
        </p:nvSpPr>
        <p:spPr>
          <a:xfrm>
            <a:off x="7100623" y="5810068"/>
            <a:ext cx="4088637" cy="267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>
              <a:lnSpc>
                <a:spcPts val="3024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Rubik Light"/>
                <a:ea typeface="Rubik Light"/>
                <a:cs typeface="Rubik Light"/>
                <a:sym typeface="Rubik Light"/>
              </a:rPr>
              <a:t>ML models to identify churn drivers</a:t>
            </a:r>
          </a:p>
          <a:p>
            <a:pPr>
              <a:lnSpc>
                <a:spcPts val="3024"/>
              </a:lnSpc>
            </a:pPr>
            <a:endParaRPr lang="en-US" sz="2499" dirty="0">
              <a:solidFill>
                <a:srgbClr val="FFFFFF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539748" lvl="1" indent="-269874">
              <a:lnSpc>
                <a:spcPts val="3024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Rubik Light"/>
                <a:ea typeface="Rubik Light"/>
                <a:cs typeface="Rubik Light"/>
                <a:sym typeface="Rubik Light"/>
              </a:rPr>
              <a:t>Real-time churn risk dashboard</a:t>
            </a:r>
          </a:p>
          <a:p>
            <a:pPr>
              <a:lnSpc>
                <a:spcPts val="3024"/>
              </a:lnSpc>
            </a:pPr>
            <a:endParaRPr lang="en-US" sz="2499" dirty="0">
              <a:solidFill>
                <a:srgbClr val="FFFFFF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>
              <a:lnSpc>
                <a:spcPts val="3024"/>
              </a:lnSpc>
            </a:pPr>
            <a:endParaRPr lang="en-US" sz="2499" dirty="0">
              <a:solidFill>
                <a:srgbClr val="FFFFFF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3" name="Freeform 16">
            <a:extLst>
              <a:ext uri="{FF2B5EF4-FFF2-40B4-BE49-F238E27FC236}">
                <a16:creationId xmlns:a16="http://schemas.microsoft.com/office/drawing/2014/main" id="{4481C6FB-D4E8-FAE5-4DE7-9ED3F46FFF50}"/>
              </a:ext>
            </a:extLst>
          </p:cNvPr>
          <p:cNvSpPr/>
          <p:nvPr/>
        </p:nvSpPr>
        <p:spPr>
          <a:xfrm>
            <a:off x="6924351" y="4104762"/>
            <a:ext cx="1404286" cy="1418471"/>
          </a:xfrm>
          <a:custGeom>
            <a:avLst/>
            <a:gdLst/>
            <a:ahLst/>
            <a:cxnLst/>
            <a:rect l="l" t="t" r="r" b="b"/>
            <a:pathLst>
              <a:path w="1404286" h="1418471">
                <a:moveTo>
                  <a:pt x="0" y="0"/>
                </a:moveTo>
                <a:lnTo>
                  <a:pt x="1404286" y="0"/>
                </a:lnTo>
                <a:lnTo>
                  <a:pt x="1404286" y="1418471"/>
                </a:lnTo>
                <a:lnTo>
                  <a:pt x="0" y="14184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17">
            <a:extLst>
              <a:ext uri="{FF2B5EF4-FFF2-40B4-BE49-F238E27FC236}">
                <a16:creationId xmlns:a16="http://schemas.microsoft.com/office/drawing/2014/main" id="{5421C29E-9970-57BB-E23E-F87939045FA1}"/>
              </a:ext>
            </a:extLst>
          </p:cNvPr>
          <p:cNvSpPr/>
          <p:nvPr/>
        </p:nvSpPr>
        <p:spPr>
          <a:xfrm>
            <a:off x="12369428" y="4118351"/>
            <a:ext cx="1544874" cy="1226244"/>
          </a:xfrm>
          <a:custGeom>
            <a:avLst/>
            <a:gdLst/>
            <a:ahLst/>
            <a:cxnLst/>
            <a:rect l="l" t="t" r="r" b="b"/>
            <a:pathLst>
              <a:path w="1544874" h="1226244">
                <a:moveTo>
                  <a:pt x="0" y="0"/>
                </a:moveTo>
                <a:lnTo>
                  <a:pt x="1544874" y="0"/>
                </a:lnTo>
                <a:lnTo>
                  <a:pt x="1544874" y="1226244"/>
                </a:lnTo>
                <a:lnTo>
                  <a:pt x="0" y="12262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C09F1C3-0C9A-8D87-0A24-36A870E9A245}"/>
              </a:ext>
            </a:extLst>
          </p:cNvPr>
          <p:cNvSpPr txBox="1"/>
          <p:nvPr/>
        </p:nvSpPr>
        <p:spPr>
          <a:xfrm>
            <a:off x="965387" y="3548986"/>
            <a:ext cx="5235148" cy="57093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5D5AAE4-4CD0-3377-F1B1-B3249B379629}"/>
              </a:ext>
            </a:extLst>
          </p:cNvPr>
          <p:cNvSpPr txBox="1"/>
          <p:nvPr/>
        </p:nvSpPr>
        <p:spPr>
          <a:xfrm>
            <a:off x="6528468" y="3548986"/>
            <a:ext cx="5235148" cy="57093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916EB25-7020-2556-DE42-2E644DD2E1CD}"/>
              </a:ext>
            </a:extLst>
          </p:cNvPr>
          <p:cNvSpPr txBox="1"/>
          <p:nvPr/>
        </p:nvSpPr>
        <p:spPr>
          <a:xfrm>
            <a:off x="12087466" y="3548986"/>
            <a:ext cx="5235148" cy="570931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A5AC3243-BF9F-301A-DB08-BBBE334B8980}"/>
              </a:ext>
            </a:extLst>
          </p:cNvPr>
          <p:cNvSpPr txBox="1"/>
          <p:nvPr/>
        </p:nvSpPr>
        <p:spPr>
          <a:xfrm>
            <a:off x="1203172" y="1854354"/>
            <a:ext cx="13626768" cy="1168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 dirty="0">
                <a:solidFill>
                  <a:srgbClr val="FFFFFF"/>
                </a:solidFill>
                <a:latin typeface="Agrandir" panose="020B0604020202020204" charset="0"/>
                <a:ea typeface="Agrandir Medium"/>
                <a:cs typeface="Agrandir Medium"/>
                <a:sym typeface="Agrandir Medium"/>
              </a:rPr>
              <a:t>What</a:t>
            </a:r>
            <a:r>
              <a:rPr lang="en-US" sz="8499" dirty="0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 we are building</a:t>
            </a:r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414F67CE-8E5B-526C-92B6-FE0A30C7D90D}"/>
              </a:ext>
            </a:extLst>
          </p:cNvPr>
          <p:cNvSpPr txBox="1"/>
          <p:nvPr/>
        </p:nvSpPr>
        <p:spPr>
          <a:xfrm>
            <a:off x="1311523" y="1215082"/>
            <a:ext cx="3108077" cy="376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sz="3000" dirty="0">
                <a:solidFill>
                  <a:srgbClr val="FFFFFF"/>
                </a:solidFill>
                <a:latin typeface="Rubik Light"/>
                <a:ea typeface="Rubik Light"/>
                <a:cs typeface="Rubik Light"/>
                <a:sym typeface="Rubik Light"/>
              </a:rPr>
              <a:t>Future Phases</a:t>
            </a:r>
          </a:p>
        </p:txBody>
      </p:sp>
      <p:sp>
        <p:nvSpPr>
          <p:cNvPr id="7" name="TextBox 23">
            <a:extLst>
              <a:ext uri="{FF2B5EF4-FFF2-40B4-BE49-F238E27FC236}">
                <a16:creationId xmlns:a16="http://schemas.microsoft.com/office/drawing/2014/main" id="{8B8191C7-5BFF-9CEC-83A2-4AD13D9C327D}"/>
              </a:ext>
            </a:extLst>
          </p:cNvPr>
          <p:cNvSpPr txBox="1"/>
          <p:nvPr/>
        </p:nvSpPr>
        <p:spPr>
          <a:xfrm>
            <a:off x="1128669" y="3275873"/>
            <a:ext cx="16340832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000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Goal: Automate, predict, and proactively reduce churn</a:t>
            </a:r>
          </a:p>
          <a:p>
            <a:pPr algn="l">
              <a:lnSpc>
                <a:spcPts val="3629"/>
              </a:lnSpc>
            </a:pPr>
            <a:endParaRPr lang="en-US" sz="3000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  <p:extLst>
      <p:ext uri="{BB962C8B-B14F-4D97-AF65-F5344CB8AC3E}">
        <p14:creationId xmlns:p14="http://schemas.microsoft.com/office/powerpoint/2010/main" val="3165538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636BEF-DA77-5E13-F6A8-AEA831DDF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5952966-ED6F-6975-3109-9BBBF26EB958}"/>
              </a:ext>
            </a:extLst>
          </p:cNvPr>
          <p:cNvSpPr txBox="1"/>
          <p:nvPr/>
        </p:nvSpPr>
        <p:spPr>
          <a:xfrm>
            <a:off x="1203172" y="1854354"/>
            <a:ext cx="11283775" cy="142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Measuring Success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0C6368F-4FC0-8A30-69DC-23D54B50FCFE}"/>
              </a:ext>
            </a:extLst>
          </p:cNvPr>
          <p:cNvSpPr txBox="1"/>
          <p:nvPr/>
        </p:nvSpPr>
        <p:spPr>
          <a:xfrm>
            <a:off x="1311523" y="1215082"/>
            <a:ext cx="1566047" cy="39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sz="3000">
                <a:solidFill>
                  <a:srgbClr val="FFFFFF"/>
                </a:solidFill>
                <a:latin typeface="Rubik Light"/>
                <a:ea typeface="Rubik Light"/>
                <a:cs typeface="Rubik Light"/>
                <a:sym typeface="Rubik Light"/>
              </a:rPr>
              <a:t>KPIs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4FD9837-3DC8-0A7F-0DEF-D1ADC29ED2EE}"/>
              </a:ext>
            </a:extLst>
          </p:cNvPr>
          <p:cNvSpPr/>
          <p:nvPr/>
        </p:nvSpPr>
        <p:spPr>
          <a:xfrm flipH="1">
            <a:off x="9894209" y="1717048"/>
            <a:ext cx="7365091" cy="7651261"/>
          </a:xfrm>
          <a:custGeom>
            <a:avLst/>
            <a:gdLst/>
            <a:ahLst/>
            <a:cxnLst/>
            <a:rect l="l" t="t" r="r" b="b"/>
            <a:pathLst>
              <a:path w="7365091" h="7651261">
                <a:moveTo>
                  <a:pt x="7365091" y="0"/>
                </a:moveTo>
                <a:lnTo>
                  <a:pt x="0" y="0"/>
                </a:lnTo>
                <a:lnTo>
                  <a:pt x="0" y="7651260"/>
                </a:lnTo>
                <a:lnTo>
                  <a:pt x="7365091" y="7651260"/>
                </a:lnTo>
                <a:lnTo>
                  <a:pt x="736509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280" t="-13183" r="-15571" b="-13736"/>
            </a:stretch>
          </a:blipFill>
          <a:effectLst>
            <a:outerShdw blurRad="152400" dist="317500" dir="5400000" sx="90000" sy="-19000" rotWithShape="0">
              <a:schemeClr val="bg1">
                <a:lumMod val="95000"/>
                <a:alpha val="15000"/>
              </a:scheme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809CBE1-0E2F-E8B0-50BF-6A163BBBD00D}"/>
              </a:ext>
            </a:extLst>
          </p:cNvPr>
          <p:cNvGrpSpPr/>
          <p:nvPr/>
        </p:nvGrpSpPr>
        <p:grpSpPr>
          <a:xfrm rot="-10800000">
            <a:off x="6705600" y="3959236"/>
            <a:ext cx="5582214" cy="153242"/>
            <a:chOff x="0" y="0"/>
            <a:chExt cx="15544452" cy="5080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8166167-8C06-37DA-F4C5-E048C9A7B38F}"/>
                </a:ext>
              </a:extLst>
            </p:cNvPr>
            <p:cNvSpPr/>
            <p:nvPr/>
          </p:nvSpPr>
          <p:spPr>
            <a:xfrm>
              <a:off x="0" y="49530"/>
              <a:ext cx="15544453" cy="408940"/>
            </a:xfrm>
            <a:custGeom>
              <a:avLst/>
              <a:gdLst/>
              <a:ahLst/>
              <a:cxnLst/>
              <a:rect l="l" t="t" r="r" b="b"/>
              <a:pathLst>
                <a:path w="15544453" h="408940">
                  <a:moveTo>
                    <a:pt x="15338712" y="0"/>
                  </a:moveTo>
                  <a:cubicBezTo>
                    <a:pt x="15238383" y="0"/>
                    <a:pt x="15155833" y="72390"/>
                    <a:pt x="15136783" y="166370"/>
                  </a:cubicBezTo>
                  <a:lnTo>
                    <a:pt x="0" y="166370"/>
                  </a:lnTo>
                  <a:lnTo>
                    <a:pt x="0" y="242570"/>
                  </a:lnTo>
                  <a:lnTo>
                    <a:pt x="15138053" y="242570"/>
                  </a:lnTo>
                  <a:cubicBezTo>
                    <a:pt x="15155833" y="337820"/>
                    <a:pt x="15239653" y="408940"/>
                    <a:pt x="15339983" y="408940"/>
                  </a:cubicBezTo>
                  <a:cubicBezTo>
                    <a:pt x="15453012" y="408940"/>
                    <a:pt x="15544453" y="317500"/>
                    <a:pt x="15544453" y="204470"/>
                  </a:cubicBezTo>
                  <a:cubicBezTo>
                    <a:pt x="15544453" y="91440"/>
                    <a:pt x="15453012" y="0"/>
                    <a:pt x="15338712" y="0"/>
                  </a:cubicBezTo>
                  <a:close/>
                </a:path>
              </a:pathLst>
            </a:custGeom>
            <a:solidFill>
              <a:srgbClr val="3EDAD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EB8F26DD-CBB0-B4E8-E9B8-5FAC99532428}"/>
              </a:ext>
            </a:extLst>
          </p:cNvPr>
          <p:cNvGrpSpPr/>
          <p:nvPr/>
        </p:nvGrpSpPr>
        <p:grpSpPr>
          <a:xfrm rot="-10800000">
            <a:off x="6705600" y="5447458"/>
            <a:ext cx="5582214" cy="153242"/>
            <a:chOff x="0" y="0"/>
            <a:chExt cx="15544452" cy="5080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57ADD134-AD9B-E481-517C-7AA79F089EFA}"/>
                </a:ext>
              </a:extLst>
            </p:cNvPr>
            <p:cNvSpPr/>
            <p:nvPr/>
          </p:nvSpPr>
          <p:spPr>
            <a:xfrm>
              <a:off x="0" y="49530"/>
              <a:ext cx="15544453" cy="408940"/>
            </a:xfrm>
            <a:custGeom>
              <a:avLst/>
              <a:gdLst/>
              <a:ahLst/>
              <a:cxnLst/>
              <a:rect l="l" t="t" r="r" b="b"/>
              <a:pathLst>
                <a:path w="15544453" h="408940">
                  <a:moveTo>
                    <a:pt x="15338712" y="0"/>
                  </a:moveTo>
                  <a:cubicBezTo>
                    <a:pt x="15238383" y="0"/>
                    <a:pt x="15155833" y="72390"/>
                    <a:pt x="15136783" y="166370"/>
                  </a:cubicBezTo>
                  <a:lnTo>
                    <a:pt x="0" y="166370"/>
                  </a:lnTo>
                  <a:lnTo>
                    <a:pt x="0" y="242570"/>
                  </a:lnTo>
                  <a:lnTo>
                    <a:pt x="15138053" y="242570"/>
                  </a:lnTo>
                  <a:cubicBezTo>
                    <a:pt x="15155833" y="337820"/>
                    <a:pt x="15239653" y="408940"/>
                    <a:pt x="15339983" y="408940"/>
                  </a:cubicBezTo>
                  <a:cubicBezTo>
                    <a:pt x="15453012" y="408940"/>
                    <a:pt x="15544453" y="317500"/>
                    <a:pt x="15544453" y="204470"/>
                  </a:cubicBezTo>
                  <a:cubicBezTo>
                    <a:pt x="15544453" y="91440"/>
                    <a:pt x="15453012" y="0"/>
                    <a:pt x="15338712" y="0"/>
                  </a:cubicBezTo>
                  <a:close/>
                </a:path>
              </a:pathLst>
            </a:custGeom>
            <a:solidFill>
              <a:srgbClr val="86EAE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73B259E-868B-96F6-952F-70D3A514C9E5}"/>
              </a:ext>
            </a:extLst>
          </p:cNvPr>
          <p:cNvGrpSpPr/>
          <p:nvPr/>
        </p:nvGrpSpPr>
        <p:grpSpPr>
          <a:xfrm rot="-10800000">
            <a:off x="6705600" y="6897859"/>
            <a:ext cx="5582214" cy="153242"/>
            <a:chOff x="0" y="0"/>
            <a:chExt cx="15544452" cy="5080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08BEF63-308C-BC8F-6B82-4E48E3854BF8}"/>
                </a:ext>
              </a:extLst>
            </p:cNvPr>
            <p:cNvSpPr/>
            <p:nvPr/>
          </p:nvSpPr>
          <p:spPr>
            <a:xfrm>
              <a:off x="0" y="49530"/>
              <a:ext cx="15544453" cy="408940"/>
            </a:xfrm>
            <a:custGeom>
              <a:avLst/>
              <a:gdLst/>
              <a:ahLst/>
              <a:cxnLst/>
              <a:rect l="l" t="t" r="r" b="b"/>
              <a:pathLst>
                <a:path w="15544453" h="408940">
                  <a:moveTo>
                    <a:pt x="15338712" y="0"/>
                  </a:moveTo>
                  <a:cubicBezTo>
                    <a:pt x="15238383" y="0"/>
                    <a:pt x="15155833" y="72390"/>
                    <a:pt x="15136783" y="166370"/>
                  </a:cubicBezTo>
                  <a:lnTo>
                    <a:pt x="0" y="166370"/>
                  </a:lnTo>
                  <a:lnTo>
                    <a:pt x="0" y="242570"/>
                  </a:lnTo>
                  <a:lnTo>
                    <a:pt x="15138053" y="242570"/>
                  </a:lnTo>
                  <a:cubicBezTo>
                    <a:pt x="15155833" y="337820"/>
                    <a:pt x="15239653" y="408940"/>
                    <a:pt x="15339983" y="408940"/>
                  </a:cubicBezTo>
                  <a:cubicBezTo>
                    <a:pt x="15453012" y="408940"/>
                    <a:pt x="15544453" y="317500"/>
                    <a:pt x="15544453" y="204470"/>
                  </a:cubicBezTo>
                  <a:cubicBezTo>
                    <a:pt x="15544453" y="91440"/>
                    <a:pt x="15453012" y="0"/>
                    <a:pt x="15338712" y="0"/>
                  </a:cubicBezTo>
                  <a:close/>
                </a:path>
              </a:pathLst>
            </a:custGeom>
            <a:solidFill>
              <a:srgbClr val="5DB4F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C0F05A2-0DAF-E298-D10D-FCBE0C989DF1}"/>
              </a:ext>
            </a:extLst>
          </p:cNvPr>
          <p:cNvGrpSpPr/>
          <p:nvPr/>
        </p:nvGrpSpPr>
        <p:grpSpPr>
          <a:xfrm rot="-10800000">
            <a:off x="6705600" y="8198141"/>
            <a:ext cx="5582214" cy="153242"/>
            <a:chOff x="0" y="0"/>
            <a:chExt cx="15544452" cy="508000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0EF7A85-D3EA-DACA-7E29-A9D08A5B119F}"/>
                </a:ext>
              </a:extLst>
            </p:cNvPr>
            <p:cNvSpPr/>
            <p:nvPr/>
          </p:nvSpPr>
          <p:spPr>
            <a:xfrm>
              <a:off x="0" y="49530"/>
              <a:ext cx="15544453" cy="408940"/>
            </a:xfrm>
            <a:custGeom>
              <a:avLst/>
              <a:gdLst/>
              <a:ahLst/>
              <a:cxnLst/>
              <a:rect l="l" t="t" r="r" b="b"/>
              <a:pathLst>
                <a:path w="15544453" h="408940">
                  <a:moveTo>
                    <a:pt x="15338712" y="0"/>
                  </a:moveTo>
                  <a:cubicBezTo>
                    <a:pt x="15238383" y="0"/>
                    <a:pt x="15155833" y="72390"/>
                    <a:pt x="15136783" y="166370"/>
                  </a:cubicBezTo>
                  <a:lnTo>
                    <a:pt x="0" y="166370"/>
                  </a:lnTo>
                  <a:lnTo>
                    <a:pt x="0" y="242570"/>
                  </a:lnTo>
                  <a:lnTo>
                    <a:pt x="15138053" y="242570"/>
                  </a:lnTo>
                  <a:cubicBezTo>
                    <a:pt x="15155833" y="337820"/>
                    <a:pt x="15239653" y="408940"/>
                    <a:pt x="15339983" y="408940"/>
                  </a:cubicBezTo>
                  <a:cubicBezTo>
                    <a:pt x="15453012" y="408940"/>
                    <a:pt x="15544453" y="317500"/>
                    <a:pt x="15544453" y="204470"/>
                  </a:cubicBezTo>
                  <a:cubicBezTo>
                    <a:pt x="15544453" y="91440"/>
                    <a:pt x="15453012" y="0"/>
                    <a:pt x="15338712" y="0"/>
                  </a:cubicBezTo>
                  <a:close/>
                </a:path>
              </a:pathLst>
            </a:custGeom>
            <a:solidFill>
              <a:srgbClr val="7511C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CD7D7E9-0AFD-CE77-0AD0-5488A3BE95DB}"/>
              </a:ext>
            </a:extLst>
          </p:cNvPr>
          <p:cNvGrpSpPr/>
          <p:nvPr/>
        </p:nvGrpSpPr>
        <p:grpSpPr>
          <a:xfrm>
            <a:off x="2286000" y="3546233"/>
            <a:ext cx="6100985" cy="5544535"/>
            <a:chOff x="3909324" y="3546233"/>
            <a:chExt cx="6100985" cy="5544535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7676270-FEF5-BDAC-6C67-B86F0BE55370}"/>
                </a:ext>
              </a:extLst>
            </p:cNvPr>
            <p:cNvSpPr txBox="1"/>
            <p:nvPr/>
          </p:nvSpPr>
          <p:spPr>
            <a:xfrm>
              <a:off x="3909325" y="3546233"/>
              <a:ext cx="6100984" cy="4648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 spc="202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Primary KPI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041A8B1-243C-847B-BD2F-FD419931F269}"/>
                </a:ext>
              </a:extLst>
            </p:cNvPr>
            <p:cNvSpPr txBox="1"/>
            <p:nvPr/>
          </p:nvSpPr>
          <p:spPr>
            <a:xfrm>
              <a:off x="3909325" y="4696081"/>
              <a:ext cx="6100984" cy="4648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 spc="202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Secondary KPIs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BE0108A-F031-6290-038D-E565EB295C73}"/>
                </a:ext>
              </a:extLst>
            </p:cNvPr>
            <p:cNvSpPr txBox="1"/>
            <p:nvPr/>
          </p:nvSpPr>
          <p:spPr>
            <a:xfrm>
              <a:off x="3909325" y="7009212"/>
              <a:ext cx="5984884" cy="49244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82549" indent="-269875">
                <a:buFont typeface="Arial"/>
                <a:buChar char="•"/>
              </a:pPr>
              <a:r>
                <a:rPr lang="en-US" sz="1600" spc="124" dirty="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15-20% decrease in call center vol.</a:t>
              </a:r>
            </a:p>
            <a:p>
              <a:pPr marL="82550" indent="-269875">
                <a:buFont typeface="Arial"/>
                <a:buChar char="•"/>
              </a:pPr>
              <a:r>
                <a:rPr lang="en-US" sz="1600" spc="125" dirty="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15-20% decrease in cost per interaction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0D4FC3A7-3C8D-A966-51EA-7F46F9ED635E}"/>
                </a:ext>
              </a:extLst>
            </p:cNvPr>
            <p:cNvSpPr txBox="1"/>
            <p:nvPr/>
          </p:nvSpPr>
          <p:spPr>
            <a:xfrm>
              <a:off x="3909325" y="6484856"/>
              <a:ext cx="6100984" cy="4648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 spc="202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Operational Impact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D87254D8-E4C7-CF9D-1260-B2F987F556ED}"/>
                </a:ext>
              </a:extLst>
            </p:cNvPr>
            <p:cNvSpPr txBox="1"/>
            <p:nvPr/>
          </p:nvSpPr>
          <p:spPr>
            <a:xfrm>
              <a:off x="3909325" y="8352104"/>
              <a:ext cx="5984884" cy="7386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82549" indent="-269875">
                <a:buFont typeface="Arial"/>
                <a:buChar char="•"/>
              </a:pPr>
              <a:r>
                <a:rPr lang="en-US" sz="1600" spc="124" dirty="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App crash / error rate below baseline</a:t>
              </a:r>
            </a:p>
            <a:p>
              <a:pPr marL="82549" indent="-269875">
                <a:buFont typeface="Arial"/>
                <a:buChar char="•"/>
              </a:pPr>
              <a:r>
                <a:rPr lang="en-US" sz="1600" spc="124" dirty="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No increase in complaints or escalations</a:t>
              </a:r>
            </a:p>
            <a:p>
              <a:pPr marL="82549" indent="-269875">
                <a:buFont typeface="Arial"/>
                <a:buChar char="•"/>
              </a:pPr>
              <a:r>
                <a:rPr lang="en-US" sz="1600" spc="124" dirty="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Support wait times maintained or improved</a:t>
              </a: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5223EE-58CB-82C3-3D30-306DE7A9B294}"/>
                </a:ext>
              </a:extLst>
            </p:cNvPr>
            <p:cNvSpPr txBox="1"/>
            <p:nvPr/>
          </p:nvSpPr>
          <p:spPr>
            <a:xfrm>
              <a:off x="3909325" y="7686849"/>
              <a:ext cx="6100984" cy="4648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 spc="202" dirty="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Guardrails</a:t>
              </a:r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A954D086-8BD9-82C4-6ADF-ECB95E2EBC5B}"/>
                </a:ext>
              </a:extLst>
            </p:cNvPr>
            <p:cNvSpPr txBox="1"/>
            <p:nvPr/>
          </p:nvSpPr>
          <p:spPr>
            <a:xfrm>
              <a:off x="3909324" y="4070589"/>
              <a:ext cx="6100985" cy="3885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171450" indent="-171450">
                <a:lnSpc>
                  <a:spcPts val="3500"/>
                </a:lnSpc>
                <a:buFont typeface="Arial" panose="020B0604020202020204" pitchFamily="34" charset="0"/>
                <a:buChar char="•"/>
              </a:pPr>
              <a:r>
                <a:rPr lang="en-US" sz="1600" spc="125" dirty="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10% reduction in overall churn</a:t>
              </a: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5D4F5666-22D3-A59E-757E-BE396C53FC12}"/>
                </a:ext>
              </a:extLst>
            </p:cNvPr>
            <p:cNvSpPr txBox="1"/>
            <p:nvPr/>
          </p:nvSpPr>
          <p:spPr>
            <a:xfrm>
              <a:off x="3909325" y="5263047"/>
              <a:ext cx="5984884" cy="9848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82549" indent="-269875">
                <a:buFont typeface="Arial"/>
                <a:buChar char="•"/>
              </a:pPr>
              <a:r>
                <a:rPr lang="en-US" sz="1600" spc="124" dirty="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30% chat adoption</a:t>
              </a:r>
            </a:p>
            <a:p>
              <a:pPr marL="82549" indent="-269875">
                <a:buFont typeface="Arial"/>
                <a:buChar char="•"/>
              </a:pPr>
              <a:r>
                <a:rPr lang="en-US" sz="1600" spc="124" dirty="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5 </a:t>
              </a:r>
              <a:r>
                <a:rPr lang="en-US" sz="1600" spc="125" dirty="0">
                  <a:solidFill>
                    <a:srgbClr val="FFFFFF"/>
                  </a:solidFill>
                  <a:latin typeface="Rubik"/>
                  <a:cs typeface="Rubik"/>
                  <a:sym typeface="Rubik"/>
                </a:rPr>
                <a:t>pts</a:t>
              </a:r>
              <a:r>
                <a:rPr lang="en-US" sz="1600" spc="124" dirty="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 increase in CSAT</a:t>
              </a:r>
            </a:p>
            <a:p>
              <a:pPr marL="82549" indent="-269875">
                <a:buFont typeface="Arial"/>
                <a:buChar char="•"/>
              </a:pPr>
              <a:r>
                <a:rPr lang="en-US" sz="1600" spc="124" dirty="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10% faster first contact resolution</a:t>
              </a:r>
            </a:p>
            <a:p>
              <a:pPr marL="82550" indent="-269875">
                <a:buFont typeface="Arial"/>
                <a:buChar char="•"/>
              </a:pPr>
              <a:r>
                <a:rPr lang="en-US" sz="1600" spc="125" dirty="0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15-20% reduction in avg. resolution time</a:t>
              </a:r>
            </a:p>
          </p:txBody>
        </p:sp>
      </p:grpSp>
      <p:sp>
        <p:nvSpPr>
          <p:cNvPr id="23" name="TextBox 10">
            <a:extLst>
              <a:ext uri="{FF2B5EF4-FFF2-40B4-BE49-F238E27FC236}">
                <a16:creationId xmlns:a16="http://schemas.microsoft.com/office/drawing/2014/main" id="{715BF414-C524-833B-CC9B-80B0F142DB0D}"/>
              </a:ext>
            </a:extLst>
          </p:cNvPr>
          <p:cNvSpPr txBox="1"/>
          <p:nvPr/>
        </p:nvSpPr>
        <p:spPr>
          <a:xfrm>
            <a:off x="13875387" y="1215082"/>
            <a:ext cx="3596934" cy="39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sz="3000" dirty="0">
                <a:solidFill>
                  <a:srgbClr val="FFFFFF"/>
                </a:solidFill>
                <a:latin typeface="Rubik Light"/>
                <a:ea typeface="Rubik Light"/>
                <a:cs typeface="Rubik Light"/>
                <a:sym typeface="Rubik Light"/>
              </a:rPr>
              <a:t>6-12 Month Timeline</a:t>
            </a:r>
          </a:p>
        </p:txBody>
      </p:sp>
    </p:spTree>
    <p:extLst>
      <p:ext uri="{BB962C8B-B14F-4D97-AF65-F5344CB8AC3E}">
        <p14:creationId xmlns:p14="http://schemas.microsoft.com/office/powerpoint/2010/main" val="3024139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5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3384EA-A08C-A4FB-DB7F-305619491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7EA3459D-EE01-DB1B-1B36-A77279360684}"/>
              </a:ext>
            </a:extLst>
          </p:cNvPr>
          <p:cNvGrpSpPr/>
          <p:nvPr/>
        </p:nvGrpSpPr>
        <p:grpSpPr>
          <a:xfrm>
            <a:off x="0" y="6372784"/>
            <a:ext cx="9479288" cy="3914216"/>
            <a:chOff x="0" y="0"/>
            <a:chExt cx="1468590" cy="606414"/>
          </a:xfrm>
          <a:effectLst>
            <a:outerShdw blurRad="1270000" dist="50800" dir="5400000" algn="ctr" rotWithShape="0">
              <a:srgbClr val="BB93F7">
                <a:alpha val="43000"/>
              </a:srgbClr>
            </a:outerShdw>
          </a:effectLst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4898466-7943-06B2-8B76-9F62E63E3213}"/>
                </a:ext>
              </a:extLst>
            </p:cNvPr>
            <p:cNvSpPr/>
            <p:nvPr/>
          </p:nvSpPr>
          <p:spPr>
            <a:xfrm>
              <a:off x="0" y="0"/>
              <a:ext cx="1468590" cy="606414"/>
            </a:xfrm>
            <a:custGeom>
              <a:avLst/>
              <a:gdLst/>
              <a:ahLst/>
              <a:cxnLst/>
              <a:rect l="l" t="t" r="r" b="b"/>
              <a:pathLst>
                <a:path w="1468590" h="606414">
                  <a:moveTo>
                    <a:pt x="0" y="0"/>
                  </a:moveTo>
                  <a:lnTo>
                    <a:pt x="1468590" y="0"/>
                  </a:lnTo>
                  <a:lnTo>
                    <a:pt x="1468590" y="606414"/>
                  </a:lnTo>
                  <a:lnTo>
                    <a:pt x="0" y="606414"/>
                  </a:lnTo>
                  <a:close/>
                </a:path>
              </a:pathLst>
            </a:custGeom>
            <a:blipFill>
              <a:blip r:embed="rId2">
                <a:alphaModFix amt="70000"/>
              </a:blip>
              <a:stretch>
                <a:fillRect t="-30674" b="-3067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B2A56F0-47D9-0C61-FFF0-74985425A3B6}"/>
              </a:ext>
            </a:extLst>
          </p:cNvPr>
          <p:cNvGrpSpPr/>
          <p:nvPr/>
        </p:nvGrpSpPr>
        <p:grpSpPr>
          <a:xfrm>
            <a:off x="1311523" y="4361929"/>
            <a:ext cx="103018" cy="356256"/>
            <a:chOff x="0" y="0"/>
            <a:chExt cx="27132" cy="9382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B4E8456-13C3-E864-0CF0-C5321081E4C9}"/>
                </a:ext>
              </a:extLst>
            </p:cNvPr>
            <p:cNvSpPr/>
            <p:nvPr/>
          </p:nvSpPr>
          <p:spPr>
            <a:xfrm>
              <a:off x="0" y="0"/>
              <a:ext cx="27132" cy="93829"/>
            </a:xfrm>
            <a:custGeom>
              <a:avLst/>
              <a:gdLst/>
              <a:ahLst/>
              <a:cxnLst/>
              <a:rect l="l" t="t" r="r" b="b"/>
              <a:pathLst>
                <a:path w="27132" h="93829">
                  <a:moveTo>
                    <a:pt x="0" y="0"/>
                  </a:moveTo>
                  <a:lnTo>
                    <a:pt x="27132" y="0"/>
                  </a:lnTo>
                  <a:lnTo>
                    <a:pt x="27132" y="93829"/>
                  </a:lnTo>
                  <a:lnTo>
                    <a:pt x="0" y="938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FB4231B-F75F-8B25-3AEB-7D1385B54680}"/>
                </a:ext>
              </a:extLst>
            </p:cNvPr>
            <p:cNvSpPr txBox="1"/>
            <p:nvPr/>
          </p:nvSpPr>
          <p:spPr>
            <a:xfrm>
              <a:off x="0" y="-38100"/>
              <a:ext cx="27132" cy="131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C5CB1ACA-7552-E0BB-74AF-6203C92E322D}"/>
              </a:ext>
            </a:extLst>
          </p:cNvPr>
          <p:cNvSpPr txBox="1"/>
          <p:nvPr/>
        </p:nvSpPr>
        <p:spPr>
          <a:xfrm>
            <a:off x="1203172" y="1265835"/>
            <a:ext cx="12512828" cy="257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8499" b="1" dirty="0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Unlock the Next Era of Customer Experience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9EB07CA-2436-0798-90FB-E2A83FDE0141}"/>
              </a:ext>
            </a:extLst>
          </p:cNvPr>
          <p:cNvSpPr txBox="1"/>
          <p:nvPr/>
        </p:nvSpPr>
        <p:spPr>
          <a:xfrm>
            <a:off x="1529396" y="4373369"/>
            <a:ext cx="13579278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499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The Engaged Super Consumers are the company's most engaged and highest-value customer group. Winning them back — through a better service experience — is both a retention and a revenue growth strategy.</a:t>
            </a:r>
          </a:p>
          <a:p>
            <a:pPr algn="l">
              <a:lnSpc>
                <a:spcPts val="2774"/>
              </a:lnSpc>
            </a:pPr>
            <a:endParaRPr lang="en-US" sz="2499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E845A76-2FF6-36DB-68D2-638559F7C787}"/>
              </a:ext>
            </a:extLst>
          </p:cNvPr>
          <p:cNvSpPr txBox="1"/>
          <p:nvPr/>
        </p:nvSpPr>
        <p:spPr>
          <a:xfrm>
            <a:off x="10841592" y="7746999"/>
            <a:ext cx="6417708" cy="835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350"/>
              </a:lnSpc>
            </a:pPr>
            <a:r>
              <a:rPr lang="en-US" sz="5000" b="1">
                <a:solidFill>
                  <a:srgbClr val="FFFFFF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Let’s Make It Real!</a:t>
            </a:r>
          </a:p>
        </p:txBody>
      </p:sp>
    </p:spTree>
    <p:extLst>
      <p:ext uri="{BB962C8B-B14F-4D97-AF65-F5344CB8AC3E}">
        <p14:creationId xmlns:p14="http://schemas.microsoft.com/office/powerpoint/2010/main" val="515302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889</Words>
  <Application>Microsoft Office PowerPoint</Application>
  <PresentationFormat>Custom</PresentationFormat>
  <Paragraphs>174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Agrandir Medium</vt:lpstr>
      <vt:lpstr>Calibri</vt:lpstr>
      <vt:lpstr>Rubik Semi-Bold</vt:lpstr>
      <vt:lpstr>Rubik</vt:lpstr>
      <vt:lpstr>Rubik Light</vt:lpstr>
      <vt:lpstr>Rubik Medium</vt:lpstr>
      <vt:lpstr>Rubik Bold</vt:lpstr>
      <vt:lpstr>Arial</vt:lpstr>
      <vt:lpstr>Agrandir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Purple Modern Fintech Company Profile Presentation</dc:title>
  <dc:creator>Emily Schmidt</dc:creator>
  <cp:lastModifiedBy>Schmidt, Emily</cp:lastModifiedBy>
  <cp:revision>54</cp:revision>
  <dcterms:created xsi:type="dcterms:W3CDTF">2006-08-16T00:00:00Z</dcterms:created>
  <dcterms:modified xsi:type="dcterms:W3CDTF">2026-05-05T16:13:48Z</dcterms:modified>
  <dc:identifier>DAHIu7fK1vU</dc:identifier>
</cp:coreProperties>
</file>