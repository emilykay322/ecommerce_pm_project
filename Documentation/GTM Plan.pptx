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8288000" cy="10287000"/>
  <p:notesSz cx="6858000" cy="9144000"/>
  <p:embeddedFontLst>
    <p:embeddedFont>
      <p:font typeface="Agrandir" panose="020B0604020202020204" charset="0"/>
      <p:regular r:id="rId14"/>
    </p:embeddedFont>
    <p:embeddedFont>
      <p:font typeface="Agrandir Medium" panose="020B0604020202020204" charset="0"/>
      <p:regular r:id="rId15"/>
    </p:embeddedFont>
    <p:embeddedFont>
      <p:font typeface="Poppins" panose="00000500000000000000" pitchFamily="2" charset="0"/>
      <p:regular r:id="rId16"/>
    </p:embeddedFont>
    <p:embeddedFont>
      <p:font typeface="Poppins Bold" panose="020B0604020202020204" charset="0"/>
      <p:regular r:id="rId17"/>
    </p:embeddedFont>
    <p:embeddedFont>
      <p:font typeface="Rubik" panose="020B0604020202020204" charset="-79"/>
      <p:regular r:id="rId18"/>
    </p:embeddedFont>
    <p:embeddedFont>
      <p:font typeface="Rubik Bold" panose="020B0604020202020204" charset="-79"/>
      <p:regular r:id="rId19"/>
    </p:embeddedFont>
    <p:embeddedFont>
      <p:font typeface="Rubik Light" panose="020B0604020202020204" charset="-79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52E"/>
    <a:srgbClr val="15084C"/>
    <a:srgbClr val="BB9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02390" y="0"/>
            <a:ext cx="6585610" cy="10287000"/>
            <a:chOff x="0" y="0"/>
            <a:chExt cx="102028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0283" cy="1593725"/>
            </a:xfrm>
            <a:custGeom>
              <a:avLst/>
              <a:gdLst/>
              <a:ahLst/>
              <a:cxnLst/>
              <a:rect l="l" t="t" r="r" b="b"/>
              <a:pathLst>
                <a:path w="1020283" h="1593725">
                  <a:moveTo>
                    <a:pt x="0" y="0"/>
                  </a:moveTo>
                  <a:lnTo>
                    <a:pt x="1020283" y="0"/>
                  </a:lnTo>
                  <a:lnTo>
                    <a:pt x="102028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67153" r="-671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03172" y="2208070"/>
            <a:ext cx="7433451" cy="257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Go-to-Market 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1523" y="1215082"/>
            <a:ext cx="2817031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Emily Schmidt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3172" y="4880175"/>
            <a:ext cx="8607681" cy="109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5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Enabling an AI-Powered Customer Service Experience on Mobile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1523" y="8366184"/>
            <a:ext cx="5343020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3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Product Management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180A4F"/>
            </a:gs>
            <a:gs pos="7000">
              <a:srgbClr val="BB93F7"/>
            </a:gs>
            <a:gs pos="100000">
              <a:srgbClr val="0D052E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172" y="2092887"/>
            <a:ext cx="11194178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Goals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31525" y="4983384"/>
            <a:ext cx="7152624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Increase CLV</a:t>
            </a:r>
          </a:p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Reduce Churn</a:t>
            </a:r>
          </a:p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Increase Engagement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03172" y="5412291"/>
            <a:ext cx="3291463" cy="529026"/>
            <a:chOff x="0" y="0"/>
            <a:chExt cx="866887" cy="1393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6887" cy="139332"/>
            </a:xfrm>
            <a:custGeom>
              <a:avLst/>
              <a:gdLst/>
              <a:ahLst/>
              <a:cxnLst/>
              <a:rect l="l" t="t" r="r" b="b"/>
              <a:pathLst>
                <a:path w="866887" h="139332">
                  <a:moveTo>
                    <a:pt x="0" y="0"/>
                  </a:moveTo>
                  <a:lnTo>
                    <a:pt x="866887" y="0"/>
                  </a:lnTo>
                  <a:lnTo>
                    <a:pt x="866887" y="139332"/>
                  </a:lnTo>
                  <a:lnTo>
                    <a:pt x="0" y="139332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66887" cy="177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75230" y="5440584"/>
            <a:ext cx="1947346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Business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31525" y="6730811"/>
            <a:ext cx="7152624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Be the most desirable eCommerce Platform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66546" y="6937914"/>
            <a:ext cx="3349450" cy="515432"/>
            <a:chOff x="0" y="0"/>
            <a:chExt cx="882160" cy="135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2160" cy="135752"/>
            </a:xfrm>
            <a:custGeom>
              <a:avLst/>
              <a:gdLst/>
              <a:ahLst/>
              <a:cxnLst/>
              <a:rect l="l" t="t" r="r" b="b"/>
              <a:pathLst>
                <a:path w="882160" h="135752">
                  <a:moveTo>
                    <a:pt x="0" y="0"/>
                  </a:moveTo>
                  <a:lnTo>
                    <a:pt x="882160" y="0"/>
                  </a:lnTo>
                  <a:lnTo>
                    <a:pt x="882160" y="135752"/>
                  </a:lnTo>
                  <a:lnTo>
                    <a:pt x="0" y="135752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82160" cy="173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67598" y="6959411"/>
            <a:ext cx="1947346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Marketing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20845" y="8099962"/>
            <a:ext cx="7152624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 spc="-8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Encourage busy buyers to see </a:t>
            </a:r>
          </a:p>
          <a:p>
            <a:pPr algn="l">
              <a:lnSpc>
                <a:spcPts val="3629"/>
              </a:lnSpc>
            </a:pPr>
            <a:r>
              <a:rPr lang="en-US" sz="3000" spc="-8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the brand as a way to simplify their lives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66546" y="8319990"/>
            <a:ext cx="3328088" cy="489585"/>
            <a:chOff x="0" y="0"/>
            <a:chExt cx="876534" cy="1289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6534" cy="128944"/>
            </a:xfrm>
            <a:custGeom>
              <a:avLst/>
              <a:gdLst/>
              <a:ahLst/>
              <a:cxnLst/>
              <a:rect l="l" t="t" r="r" b="b"/>
              <a:pathLst>
                <a:path w="876534" h="128944">
                  <a:moveTo>
                    <a:pt x="0" y="0"/>
                  </a:moveTo>
                  <a:lnTo>
                    <a:pt x="876534" y="0"/>
                  </a:lnTo>
                  <a:lnTo>
                    <a:pt x="876534" y="128944"/>
                  </a:lnTo>
                  <a:lnTo>
                    <a:pt x="0" y="128944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76534" cy="167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8790" y="8328562"/>
            <a:ext cx="3203602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Communications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172" y="1854354"/>
            <a:ext cx="11283775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Measuring Success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11523" y="1215082"/>
            <a:ext cx="1566047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KPIs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9894209" y="1717048"/>
            <a:ext cx="7365091" cy="7651261"/>
          </a:xfrm>
          <a:custGeom>
            <a:avLst/>
            <a:gdLst/>
            <a:ahLst/>
            <a:cxnLst/>
            <a:rect l="l" t="t" r="r" b="b"/>
            <a:pathLst>
              <a:path w="7365091" h="7651261">
                <a:moveTo>
                  <a:pt x="7365091" y="0"/>
                </a:moveTo>
                <a:lnTo>
                  <a:pt x="0" y="0"/>
                </a:lnTo>
                <a:lnTo>
                  <a:pt x="0" y="7651260"/>
                </a:lnTo>
                <a:lnTo>
                  <a:pt x="7365091" y="7651260"/>
                </a:lnTo>
                <a:lnTo>
                  <a:pt x="736509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280" t="-13183" r="-15571" b="-13736"/>
            </a:stretch>
          </a:blipFill>
          <a:effectLst>
            <a:outerShdw blurRad="330200" dist="317500" dir="5400000" sx="90000" sy="-19000" rotWithShape="0">
              <a:schemeClr val="bg1">
                <a:lumMod val="95000"/>
                <a:alpha val="15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6705600" y="3969772"/>
            <a:ext cx="5781347" cy="127759"/>
            <a:chOff x="0" y="0"/>
            <a:chExt cx="7442949" cy="1644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42962" cy="164465"/>
            </a:xfrm>
            <a:custGeom>
              <a:avLst/>
              <a:gdLst/>
              <a:ahLst/>
              <a:cxnLst/>
              <a:rect l="l" t="t" r="r" b="b"/>
              <a:pathLst>
                <a:path w="7442962" h="164465">
                  <a:moveTo>
                    <a:pt x="7344410" y="0"/>
                  </a:moveTo>
                  <a:cubicBezTo>
                    <a:pt x="7296403" y="0"/>
                    <a:pt x="7256907" y="29083"/>
                    <a:pt x="7247763" y="66929"/>
                  </a:cubicBezTo>
                  <a:lnTo>
                    <a:pt x="0" y="66929"/>
                  </a:lnTo>
                  <a:lnTo>
                    <a:pt x="0" y="97536"/>
                  </a:lnTo>
                  <a:lnTo>
                    <a:pt x="7248398" y="97536"/>
                  </a:lnTo>
                  <a:cubicBezTo>
                    <a:pt x="7256907" y="135890"/>
                    <a:pt x="7297039" y="164465"/>
                    <a:pt x="7345045" y="164465"/>
                  </a:cubicBezTo>
                  <a:cubicBezTo>
                    <a:pt x="7399147" y="164465"/>
                    <a:pt x="7442962" y="127635"/>
                    <a:pt x="7442962" y="82169"/>
                  </a:cubicBezTo>
                  <a:cubicBezTo>
                    <a:pt x="7442962" y="36703"/>
                    <a:pt x="7399147" y="0"/>
                    <a:pt x="7344410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10800000">
            <a:off x="6705600" y="5462397"/>
            <a:ext cx="5582212" cy="123358"/>
            <a:chOff x="0" y="0"/>
            <a:chExt cx="7442949" cy="1644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42962" cy="164465"/>
            </a:xfrm>
            <a:custGeom>
              <a:avLst/>
              <a:gdLst/>
              <a:ahLst/>
              <a:cxnLst/>
              <a:rect l="l" t="t" r="r" b="b"/>
              <a:pathLst>
                <a:path w="7442962" h="164465">
                  <a:moveTo>
                    <a:pt x="7344410" y="0"/>
                  </a:moveTo>
                  <a:cubicBezTo>
                    <a:pt x="7296403" y="0"/>
                    <a:pt x="7256907" y="29083"/>
                    <a:pt x="7247763" y="66929"/>
                  </a:cubicBezTo>
                  <a:lnTo>
                    <a:pt x="0" y="66929"/>
                  </a:lnTo>
                  <a:lnTo>
                    <a:pt x="0" y="97536"/>
                  </a:lnTo>
                  <a:lnTo>
                    <a:pt x="7248398" y="97536"/>
                  </a:lnTo>
                  <a:cubicBezTo>
                    <a:pt x="7256907" y="135890"/>
                    <a:pt x="7297039" y="164465"/>
                    <a:pt x="7345045" y="164465"/>
                  </a:cubicBezTo>
                  <a:cubicBezTo>
                    <a:pt x="7399147" y="164465"/>
                    <a:pt x="7442962" y="127635"/>
                    <a:pt x="7442962" y="82169"/>
                  </a:cubicBezTo>
                  <a:cubicBezTo>
                    <a:pt x="7442962" y="36703"/>
                    <a:pt x="7399147" y="0"/>
                    <a:pt x="7344410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6705600" y="6912797"/>
            <a:ext cx="5582212" cy="123358"/>
            <a:chOff x="0" y="0"/>
            <a:chExt cx="7442949" cy="1644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42962" cy="164465"/>
            </a:xfrm>
            <a:custGeom>
              <a:avLst/>
              <a:gdLst/>
              <a:ahLst/>
              <a:cxnLst/>
              <a:rect l="l" t="t" r="r" b="b"/>
              <a:pathLst>
                <a:path w="7442962" h="164465">
                  <a:moveTo>
                    <a:pt x="7344410" y="0"/>
                  </a:moveTo>
                  <a:cubicBezTo>
                    <a:pt x="7296403" y="0"/>
                    <a:pt x="7256907" y="29083"/>
                    <a:pt x="7247763" y="66929"/>
                  </a:cubicBezTo>
                  <a:lnTo>
                    <a:pt x="0" y="66929"/>
                  </a:lnTo>
                  <a:lnTo>
                    <a:pt x="0" y="97536"/>
                  </a:lnTo>
                  <a:lnTo>
                    <a:pt x="7248398" y="97536"/>
                  </a:lnTo>
                  <a:cubicBezTo>
                    <a:pt x="7256907" y="135890"/>
                    <a:pt x="7297039" y="164465"/>
                    <a:pt x="7345045" y="164465"/>
                  </a:cubicBezTo>
                  <a:cubicBezTo>
                    <a:pt x="7399147" y="164465"/>
                    <a:pt x="7442962" y="127635"/>
                    <a:pt x="7442962" y="82169"/>
                  </a:cubicBezTo>
                  <a:cubicBezTo>
                    <a:pt x="7442962" y="36703"/>
                    <a:pt x="7399147" y="0"/>
                    <a:pt x="7344410" y="0"/>
                  </a:cubicBezTo>
                  <a:close/>
                </a:path>
              </a:pathLst>
            </a:custGeom>
            <a:solidFill>
              <a:srgbClr val="5DB4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6705600" y="8213084"/>
            <a:ext cx="5582212" cy="123358"/>
            <a:chOff x="0" y="0"/>
            <a:chExt cx="7442949" cy="1644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42962" cy="164465"/>
            </a:xfrm>
            <a:custGeom>
              <a:avLst/>
              <a:gdLst/>
              <a:ahLst/>
              <a:cxnLst/>
              <a:rect l="l" t="t" r="r" b="b"/>
              <a:pathLst>
                <a:path w="7442962" h="164465">
                  <a:moveTo>
                    <a:pt x="7344410" y="0"/>
                  </a:moveTo>
                  <a:cubicBezTo>
                    <a:pt x="7296403" y="0"/>
                    <a:pt x="7256907" y="29083"/>
                    <a:pt x="7247763" y="66929"/>
                  </a:cubicBezTo>
                  <a:lnTo>
                    <a:pt x="0" y="66929"/>
                  </a:lnTo>
                  <a:lnTo>
                    <a:pt x="0" y="97536"/>
                  </a:lnTo>
                  <a:lnTo>
                    <a:pt x="7248398" y="97536"/>
                  </a:lnTo>
                  <a:cubicBezTo>
                    <a:pt x="7256907" y="135890"/>
                    <a:pt x="7297039" y="164465"/>
                    <a:pt x="7345045" y="164465"/>
                  </a:cubicBezTo>
                  <a:cubicBezTo>
                    <a:pt x="7399147" y="164465"/>
                    <a:pt x="7442962" y="127635"/>
                    <a:pt x="7442962" y="82169"/>
                  </a:cubicBezTo>
                  <a:cubicBezTo>
                    <a:pt x="7442962" y="36703"/>
                    <a:pt x="7399147" y="0"/>
                    <a:pt x="7344410" y="0"/>
                  </a:cubicBezTo>
                  <a:close/>
                </a:path>
              </a:pathLst>
            </a:custGeom>
            <a:solidFill>
              <a:srgbClr val="7511C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286000" y="3489084"/>
            <a:ext cx="6100982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202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Primary KPI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86000" y="4638932"/>
            <a:ext cx="6100982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202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Secondary KPIs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86000" y="6999684"/>
            <a:ext cx="5984881" cy="50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4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15-20% decrease in call center vol.</a:t>
            </a:r>
          </a:p>
          <a:p>
            <a:pPr marL="5715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5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15-20% decrease in cost per interaction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86000" y="6427708"/>
            <a:ext cx="6100982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202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Operational Impact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86000" y="8342576"/>
            <a:ext cx="5984881" cy="748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4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App crash / error rate below baseline</a:t>
            </a:r>
          </a:p>
          <a:p>
            <a:pPr marL="5714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No increase in complaints or escalations</a:t>
            </a:r>
          </a:p>
          <a:p>
            <a:pPr marL="5714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Support wait times maintained or improved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86000" y="7629696"/>
            <a:ext cx="6100982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202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Guardrails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86000" y="3908660"/>
            <a:ext cx="6100982" cy="550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3040" lvl="1" indent="-96520" algn="l">
              <a:lnSpc>
                <a:spcPts val="3500"/>
              </a:lnSpc>
              <a:buFont typeface="Arial"/>
              <a:buChar char="•"/>
            </a:pPr>
            <a:r>
              <a:rPr lang="en-US" sz="1600" spc="125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10% reduction in overall churn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6000" y="5253523"/>
            <a:ext cx="5984881" cy="99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4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30% chat adoption</a:t>
            </a:r>
          </a:p>
          <a:p>
            <a:pPr marL="5714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5 pts increase in CSAT</a:t>
            </a:r>
          </a:p>
          <a:p>
            <a:pPr marL="5714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4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10% faster first contact resolution</a:t>
            </a:r>
          </a:p>
          <a:p>
            <a:pPr marL="5715" lvl="1" indent="-2857" algn="l">
              <a:lnSpc>
                <a:spcPts val="1920"/>
              </a:lnSpc>
              <a:buFont typeface="Arial"/>
              <a:buChar char="•"/>
            </a:pPr>
            <a:r>
              <a:rPr lang="en-US" sz="1600" spc="125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15-20% reduction in avg. resolution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3172" y="3693647"/>
            <a:ext cx="7940828" cy="1694858"/>
            <a:chOff x="0" y="0"/>
            <a:chExt cx="2091412" cy="4463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1411" cy="446382"/>
            </a:xfrm>
            <a:custGeom>
              <a:avLst/>
              <a:gdLst/>
              <a:ahLst/>
              <a:cxnLst/>
              <a:rect l="l" t="t" r="r" b="b"/>
              <a:pathLst>
                <a:path w="2091411" h="446382">
                  <a:moveTo>
                    <a:pt x="28274" y="0"/>
                  </a:moveTo>
                  <a:lnTo>
                    <a:pt x="2063138" y="0"/>
                  </a:lnTo>
                  <a:cubicBezTo>
                    <a:pt x="2078753" y="0"/>
                    <a:pt x="2091411" y="12659"/>
                    <a:pt x="2091411" y="28274"/>
                  </a:cubicBezTo>
                  <a:lnTo>
                    <a:pt x="2091411" y="418109"/>
                  </a:lnTo>
                  <a:cubicBezTo>
                    <a:pt x="2091411" y="433724"/>
                    <a:pt x="2078753" y="446382"/>
                    <a:pt x="2063138" y="446382"/>
                  </a:cubicBezTo>
                  <a:lnTo>
                    <a:pt x="28274" y="446382"/>
                  </a:lnTo>
                  <a:cubicBezTo>
                    <a:pt x="12659" y="446382"/>
                    <a:pt x="0" y="433724"/>
                    <a:pt x="0" y="418109"/>
                  </a:cubicBezTo>
                  <a:lnTo>
                    <a:pt x="0" y="28274"/>
                  </a:lnTo>
                  <a:cubicBezTo>
                    <a:pt x="0" y="12659"/>
                    <a:pt x="12659" y="0"/>
                    <a:pt x="2827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91412" cy="484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3172" y="5798080"/>
            <a:ext cx="7940828" cy="1694858"/>
            <a:chOff x="0" y="0"/>
            <a:chExt cx="2091412" cy="4463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1411" cy="446382"/>
            </a:xfrm>
            <a:custGeom>
              <a:avLst/>
              <a:gdLst/>
              <a:ahLst/>
              <a:cxnLst/>
              <a:rect l="l" t="t" r="r" b="b"/>
              <a:pathLst>
                <a:path w="2091411" h="446382">
                  <a:moveTo>
                    <a:pt x="28274" y="0"/>
                  </a:moveTo>
                  <a:lnTo>
                    <a:pt x="2063138" y="0"/>
                  </a:lnTo>
                  <a:cubicBezTo>
                    <a:pt x="2078753" y="0"/>
                    <a:pt x="2091411" y="12659"/>
                    <a:pt x="2091411" y="28274"/>
                  </a:cubicBezTo>
                  <a:lnTo>
                    <a:pt x="2091411" y="418109"/>
                  </a:lnTo>
                  <a:cubicBezTo>
                    <a:pt x="2091411" y="433724"/>
                    <a:pt x="2078753" y="446382"/>
                    <a:pt x="2063138" y="446382"/>
                  </a:cubicBezTo>
                  <a:lnTo>
                    <a:pt x="28274" y="446382"/>
                  </a:lnTo>
                  <a:cubicBezTo>
                    <a:pt x="12659" y="446382"/>
                    <a:pt x="0" y="433724"/>
                    <a:pt x="0" y="418109"/>
                  </a:cubicBezTo>
                  <a:lnTo>
                    <a:pt x="0" y="28274"/>
                  </a:lnTo>
                  <a:cubicBezTo>
                    <a:pt x="0" y="12659"/>
                    <a:pt x="12659" y="0"/>
                    <a:pt x="28274" y="0"/>
                  </a:cubicBezTo>
                  <a:close/>
                </a:path>
              </a:pathLst>
            </a:custGeom>
            <a:solidFill>
              <a:srgbClr val="9F5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91412" cy="484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3172" y="7902514"/>
            <a:ext cx="7940828" cy="1694858"/>
            <a:chOff x="0" y="0"/>
            <a:chExt cx="2091412" cy="4463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1411" cy="446382"/>
            </a:xfrm>
            <a:custGeom>
              <a:avLst/>
              <a:gdLst/>
              <a:ahLst/>
              <a:cxnLst/>
              <a:rect l="l" t="t" r="r" b="b"/>
              <a:pathLst>
                <a:path w="2091411" h="446382">
                  <a:moveTo>
                    <a:pt x="28274" y="0"/>
                  </a:moveTo>
                  <a:lnTo>
                    <a:pt x="2063138" y="0"/>
                  </a:lnTo>
                  <a:cubicBezTo>
                    <a:pt x="2078753" y="0"/>
                    <a:pt x="2091411" y="12659"/>
                    <a:pt x="2091411" y="28274"/>
                  </a:cubicBezTo>
                  <a:lnTo>
                    <a:pt x="2091411" y="418109"/>
                  </a:lnTo>
                  <a:cubicBezTo>
                    <a:pt x="2091411" y="433724"/>
                    <a:pt x="2078753" y="446382"/>
                    <a:pt x="2063138" y="446382"/>
                  </a:cubicBezTo>
                  <a:lnTo>
                    <a:pt x="28274" y="446382"/>
                  </a:lnTo>
                  <a:cubicBezTo>
                    <a:pt x="12659" y="446382"/>
                    <a:pt x="0" y="433724"/>
                    <a:pt x="0" y="418109"/>
                  </a:cubicBezTo>
                  <a:lnTo>
                    <a:pt x="0" y="28274"/>
                  </a:lnTo>
                  <a:cubicBezTo>
                    <a:pt x="0" y="12659"/>
                    <a:pt x="12659" y="0"/>
                    <a:pt x="2827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91412" cy="484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46176" y="5143500"/>
            <a:ext cx="7971129" cy="5246370"/>
            <a:chOff x="0" y="0"/>
            <a:chExt cx="1234937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4937" cy="812800"/>
            </a:xfrm>
            <a:custGeom>
              <a:avLst/>
              <a:gdLst/>
              <a:ahLst/>
              <a:cxnLst/>
              <a:rect l="l" t="t" r="r" b="b"/>
              <a:pathLst>
                <a:path w="1234937" h="812800">
                  <a:moveTo>
                    <a:pt x="0" y="0"/>
                  </a:moveTo>
                  <a:lnTo>
                    <a:pt x="1234937" y="0"/>
                  </a:lnTo>
                  <a:lnTo>
                    <a:pt x="123493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691" b="-6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3172" y="1854354"/>
            <a:ext cx="9085411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Market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38527" y="3910817"/>
            <a:ext cx="5005881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81574"/>
                </a:solidFill>
                <a:latin typeface="Rubik"/>
                <a:ea typeface="Rubik"/>
                <a:cs typeface="Rubik"/>
                <a:sym typeface="Rubik"/>
              </a:rPr>
              <a:t>AI in eCommerce is projected to grow over 600%, reaching $64.03B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38527" y="6009772"/>
            <a:ext cx="5005881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Over 78% of eCommerce activity is driven through mobile app engagement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38527" y="8285123"/>
            <a:ext cx="5205764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81574"/>
                </a:solidFill>
                <a:latin typeface="Rubik"/>
                <a:ea typeface="Rubik"/>
                <a:cs typeface="Rubik"/>
                <a:sym typeface="Rubik"/>
              </a:rPr>
              <a:t>Demand is rising for in-context transactions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46176" y="3684122"/>
            <a:ext cx="6514842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By knowing about business now you can do know your own business now</a:t>
            </a:r>
          </a:p>
        </p:txBody>
      </p:sp>
      <p:sp>
        <p:nvSpPr>
          <p:cNvPr id="18" name="Freeform 18"/>
          <p:cNvSpPr/>
          <p:nvPr/>
        </p:nvSpPr>
        <p:spPr>
          <a:xfrm>
            <a:off x="1596509" y="3905444"/>
            <a:ext cx="1282927" cy="1271264"/>
          </a:xfrm>
          <a:custGeom>
            <a:avLst/>
            <a:gdLst/>
            <a:ahLst/>
            <a:cxnLst/>
            <a:rect l="l" t="t" r="r" b="b"/>
            <a:pathLst>
              <a:path w="1282927" h="1271264">
                <a:moveTo>
                  <a:pt x="0" y="0"/>
                </a:moveTo>
                <a:lnTo>
                  <a:pt x="1282927" y="0"/>
                </a:lnTo>
                <a:lnTo>
                  <a:pt x="1282927" y="1271264"/>
                </a:lnTo>
                <a:lnTo>
                  <a:pt x="0" y="1271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844939" y="6104284"/>
            <a:ext cx="786067" cy="1197816"/>
          </a:xfrm>
          <a:custGeom>
            <a:avLst/>
            <a:gdLst/>
            <a:ahLst/>
            <a:cxnLst/>
            <a:rect l="l" t="t" r="r" b="b"/>
            <a:pathLst>
              <a:path w="786067" h="1197816">
                <a:moveTo>
                  <a:pt x="0" y="0"/>
                </a:moveTo>
                <a:lnTo>
                  <a:pt x="786067" y="0"/>
                </a:lnTo>
                <a:lnTo>
                  <a:pt x="786067" y="1197816"/>
                </a:lnTo>
                <a:lnTo>
                  <a:pt x="0" y="1197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494878" y="8139676"/>
            <a:ext cx="1486190" cy="1220534"/>
          </a:xfrm>
          <a:custGeom>
            <a:avLst/>
            <a:gdLst/>
            <a:ahLst/>
            <a:cxnLst/>
            <a:rect l="l" t="t" r="r" b="b"/>
            <a:pathLst>
              <a:path w="1486190" h="1220534">
                <a:moveTo>
                  <a:pt x="0" y="0"/>
                </a:moveTo>
                <a:lnTo>
                  <a:pt x="1486190" y="0"/>
                </a:lnTo>
                <a:lnTo>
                  <a:pt x="1486190" y="1220534"/>
                </a:lnTo>
                <a:lnTo>
                  <a:pt x="0" y="1220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rgbClr val="180A4F"/>
            </a:gs>
            <a:gs pos="8000">
              <a:srgbClr val="BB93F7"/>
            </a:gs>
            <a:gs pos="100000">
              <a:srgbClr val="0D052E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169" y="1721006"/>
            <a:ext cx="10218896" cy="142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Competitor Review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454888" y="3440177"/>
          <a:ext cx="9804412" cy="5361748"/>
        </p:xfrm>
        <a:graphic>
          <a:graphicData uri="http://schemas.openxmlformats.org/drawingml/2006/table">
            <a:tbl>
              <a:tblPr/>
              <a:tblGrid>
                <a:gridCol w="245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1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1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501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Our Product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Amazon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Shop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18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AI Quick Solutions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In-chat guided workflows for common requests and issue resolution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In-chat guided workflows for common requests and issue resolution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AI assistant responds conversationally without guided prompts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18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Chat Button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Chat button prominently placed on home screen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Chat/support accessed through orders or settings pages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Home-screen chat focused on shopping assistance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84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Talk to CSR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Seamless escalation to live customer service representatives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Limited live support availability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No embedded CSR escalation; users must contact support separately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84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Machine-Learning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Phase 2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Likely integrated across recommendation and support systems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Likely integrated across shopping and recommendation experiences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18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Zero-Click Purchase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Phase 2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29"/>
                        </a:lnSpc>
                        <a:defRPr/>
                      </a:pPr>
                      <a:r>
                        <a:rPr lang="en-US" sz="152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“Buy Now” functionality embedded across products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52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AI-powered shopping assistant experience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847628" y="4087430"/>
            <a:ext cx="5655610" cy="471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2"/>
              </a:lnSpc>
            </a:pPr>
            <a:r>
              <a:rPr lang="en-US" sz="2800" spc="-84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Our competitors already have an in-app feature that guides customers to self-serve or chat directly with a customer service representative.</a:t>
            </a:r>
          </a:p>
          <a:p>
            <a:pPr algn="l">
              <a:lnSpc>
                <a:spcPts val="3752"/>
              </a:lnSpc>
            </a:pPr>
            <a:endParaRPr lang="en-US" sz="2800" spc="-84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algn="l">
              <a:lnSpc>
                <a:spcPts val="3752"/>
              </a:lnSpc>
            </a:pPr>
            <a:r>
              <a:rPr lang="en-US" sz="2800" spc="-84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Shopflow must keep up and offer unique features to stay competitive and faster, more personalized service our customers.</a:t>
            </a:r>
          </a:p>
          <a:p>
            <a:pPr algn="l">
              <a:lnSpc>
                <a:spcPts val="3484"/>
              </a:lnSpc>
            </a:pPr>
            <a:endParaRPr lang="en-US" sz="2800" spc="-84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172" y="2092887"/>
            <a:ext cx="11194178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Target Audience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92491" y="4708474"/>
            <a:ext cx="10880977" cy="1367790"/>
            <a:chOff x="0" y="0"/>
            <a:chExt cx="14507970" cy="182372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559176"/>
              <a:ext cx="4388617" cy="705367"/>
              <a:chOff x="0" y="0"/>
              <a:chExt cx="866887" cy="139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66887" cy="139332"/>
              </a:xfrm>
              <a:custGeom>
                <a:avLst/>
                <a:gdLst/>
                <a:ahLst/>
                <a:cxnLst/>
                <a:rect l="l" t="t" r="r" b="b"/>
                <a:pathLst>
                  <a:path w="866887" h="139332">
                    <a:moveTo>
                      <a:pt x="0" y="0"/>
                    </a:moveTo>
                    <a:lnTo>
                      <a:pt x="866887" y="0"/>
                    </a:lnTo>
                    <a:lnTo>
                      <a:pt x="866887" y="139332"/>
                    </a:lnTo>
                    <a:lnTo>
                      <a:pt x="0" y="139332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866887" cy="1774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4157" y="600075"/>
              <a:ext cx="4271469" cy="614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9"/>
                </a:lnSpc>
              </a:pPr>
              <a:r>
                <a:rPr lang="en-US" sz="30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Who are they?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71138" y="-9525"/>
              <a:ext cx="9536832" cy="1833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Millennial, urban professionals with high spending power who stay ahead of trends and live fast-paced lives.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5866" y="6408980"/>
            <a:ext cx="10917603" cy="1367790"/>
            <a:chOff x="0" y="0"/>
            <a:chExt cx="14556803" cy="1823720"/>
          </a:xfrm>
        </p:grpSpPr>
        <p:sp>
          <p:nvSpPr>
            <p:cNvPr id="10" name="TextBox 10"/>
            <p:cNvSpPr txBox="1"/>
            <p:nvPr/>
          </p:nvSpPr>
          <p:spPr>
            <a:xfrm>
              <a:off x="5019972" y="-9525"/>
              <a:ext cx="9536832" cy="1833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30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Quick access to what matters so they can stay on top of life without slowing down.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263438"/>
              <a:ext cx="4465933" cy="1255482"/>
              <a:chOff x="0" y="0"/>
              <a:chExt cx="882160" cy="24799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82160" cy="247996"/>
              </a:xfrm>
              <a:custGeom>
                <a:avLst/>
                <a:gdLst/>
                <a:ahLst/>
                <a:cxnLst/>
                <a:rect l="l" t="t" r="r" b="b"/>
                <a:pathLst>
                  <a:path w="882160" h="247996">
                    <a:moveTo>
                      <a:pt x="0" y="0"/>
                    </a:moveTo>
                    <a:lnTo>
                      <a:pt x="882160" y="0"/>
                    </a:lnTo>
                    <a:lnTo>
                      <a:pt x="882160" y="247996"/>
                    </a:lnTo>
                    <a:lnTo>
                      <a:pt x="0" y="247996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882160" cy="2860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82991" y="295275"/>
              <a:ext cx="4271469" cy="1223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9"/>
                </a:lnSpc>
              </a:pPr>
              <a:r>
                <a:rPr lang="en-US" sz="30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What do they need?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6546" y="8109487"/>
            <a:ext cx="10906922" cy="1367790"/>
            <a:chOff x="0" y="0"/>
            <a:chExt cx="14542562" cy="1823720"/>
          </a:xfrm>
        </p:grpSpPr>
        <p:sp>
          <p:nvSpPr>
            <p:cNvPr id="16" name="TextBox 16"/>
            <p:cNvSpPr txBox="1"/>
            <p:nvPr/>
          </p:nvSpPr>
          <p:spPr>
            <a:xfrm>
              <a:off x="5005731" y="-9525"/>
              <a:ext cx="9536832" cy="1833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3000" spc="-89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Encourage them to use the mobile app so they can shop whenever, wherever with ease and piece of mind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280670"/>
              <a:ext cx="4437451" cy="1238250"/>
              <a:chOff x="0" y="0"/>
              <a:chExt cx="876534" cy="24459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76534" cy="244593"/>
              </a:xfrm>
              <a:custGeom>
                <a:avLst/>
                <a:gdLst/>
                <a:ahLst/>
                <a:cxnLst/>
                <a:rect l="l" t="t" r="r" b="b"/>
                <a:pathLst>
                  <a:path w="876534" h="244593">
                    <a:moveTo>
                      <a:pt x="0" y="0"/>
                    </a:moveTo>
                    <a:lnTo>
                      <a:pt x="876534" y="0"/>
                    </a:lnTo>
                    <a:lnTo>
                      <a:pt x="876534" y="244593"/>
                    </a:lnTo>
                    <a:lnTo>
                      <a:pt x="0" y="244593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876534" cy="282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2991" y="295275"/>
              <a:ext cx="4271469" cy="1223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9"/>
                </a:lnSpc>
              </a:pPr>
              <a:r>
                <a:rPr lang="en-US" sz="30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How do we talk to them?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68200" y="1308196"/>
            <a:ext cx="5684898" cy="7700667"/>
            <a:chOff x="0" y="0"/>
            <a:chExt cx="880740" cy="1193035"/>
          </a:xfrm>
          <a:effectLst>
            <a:outerShdw blurRad="1270000" dist="419100" dir="5400000" sx="23000" sy="23000" algn="ctr" rotWithShape="0">
              <a:schemeClr val="bg1">
                <a:lumMod val="95000"/>
                <a:alpha val="36000"/>
              </a:schemeClr>
            </a:outerShdw>
            <a:reflection blurRad="127000" stA="25000" endPos="40000" dist="228600" dir="5400000" sy="-100000" algn="bl" rotWithShape="0"/>
          </a:effectLst>
        </p:grpSpPr>
        <p:sp>
          <p:nvSpPr>
            <p:cNvPr id="22" name="Freeform 22"/>
            <p:cNvSpPr/>
            <p:nvPr/>
          </p:nvSpPr>
          <p:spPr>
            <a:xfrm>
              <a:off x="0" y="0"/>
              <a:ext cx="880740" cy="1193035"/>
            </a:xfrm>
            <a:prstGeom prst="flowChartAlternateProcess">
              <a:avLst/>
            </a:prstGeom>
            <a:blipFill>
              <a:blip r:embed="rId2"/>
              <a:stretch>
                <a:fillRect l="-67918" r="-3539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172" y="2092887"/>
            <a:ext cx="11194178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Messaging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51913" y="5559993"/>
          <a:ext cx="16207388" cy="3362105"/>
        </p:xfrm>
        <a:graphic>
          <a:graphicData uri="http://schemas.openxmlformats.org/drawingml/2006/table">
            <a:tbl>
              <a:tblPr/>
              <a:tblGrid>
                <a:gridCol w="4051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597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USP 1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012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DF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12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USP 2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BDF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DF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12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USP 3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BDF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DF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12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USP 4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BDF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12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12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508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 spc="-18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Human-Centric AI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spc="-18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AI should remove friction — not human connection. Customers can seamlessly escalate to live support whenever needed.</a:t>
                      </a:r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 spc="-18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Intuitive Support Access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spc="-18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Support is visible, recognizable, and immediately accessible from the home screen — eliminating the frustration of searching for help.</a:t>
                      </a:r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 spc="-18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Simplified Requests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spc="-18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Customers can start returns, order support, and common requests in seconds through guided workflows that reduce effort and save time.</a:t>
                      </a:r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 spc="-18">
                          <a:solidFill>
                            <a:srgbClr val="FFFFFF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Smarter Support Over Time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spc="-18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Customers benefit from increasingly personalized and proactive support experiences as the platform evolves with AI &amp;ML.</a:t>
                      </a:r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13813" y="4433189"/>
            <a:ext cx="664120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</a:pPr>
            <a:r>
              <a:rPr lang="en-US" sz="3299" spc="-1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That Moves at Your Speed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3813" y="3947414"/>
            <a:ext cx="664120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9"/>
              </a:lnSpc>
            </a:pPr>
            <a:r>
              <a:rPr lang="en-US" sz="1899" b="1" spc="-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Tagline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380" y="4417949"/>
            <a:ext cx="9212920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56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Shopora delivers AI-powered, human-centered customer support that helps busy consumers resolve issues faster through seamless in-app assistance and guided workflows.</a:t>
            </a:r>
          </a:p>
          <a:p>
            <a:pPr algn="l">
              <a:lnSpc>
                <a:spcPts val="2279"/>
              </a:lnSpc>
            </a:pPr>
            <a:endParaRPr lang="en-US" sz="1899" spc="-56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  <a:p>
            <a:pPr algn="l">
              <a:lnSpc>
                <a:spcPts val="2279"/>
              </a:lnSpc>
            </a:pPr>
            <a:endParaRPr lang="en-US" sz="1899" spc="-56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  <a:p>
            <a:pPr algn="l">
              <a:lnSpc>
                <a:spcPts val="2279"/>
              </a:lnSpc>
            </a:pPr>
            <a:endParaRPr lang="en-US" sz="1899" spc="-56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>
              <a:lnSpc>
                <a:spcPts val="2279"/>
              </a:lnSpc>
            </a:pPr>
            <a:endParaRPr lang="en-US" sz="1899" spc="-56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46380" y="3947414"/>
            <a:ext cx="664120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9"/>
              </a:lnSpc>
            </a:pPr>
            <a:r>
              <a:rPr lang="en-US" sz="1899" b="1" spc="-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Short boilerplate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172" y="2092887"/>
            <a:ext cx="11194178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Channel Plans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4345588"/>
          <a:ext cx="16221074" cy="4855096"/>
        </p:xfrm>
        <a:graphic>
          <a:graphicData uri="http://schemas.openxmlformats.org/drawingml/2006/table">
            <a:tbl>
              <a:tblPr/>
              <a:tblGrid>
                <a:gridCol w="3591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198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Channel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Description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Estimated budget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43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Mobile App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Mobile engagement continues to grow across both the market and our customer base, making the mobile app the highest-impact channel for customer adoption and support accessibility.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$35,000–$70,000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5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Website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Extending the experience to the website ensures a consistent omnichannel support journey and reinforces familiarity across customer touchpoints.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$10,000–$25,000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810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Help Line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Promoting the in-app chat experience during support calls encourages adoption of faster, self-guided service workflows while preserving access to live agents when needed.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$6,000–$15,000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810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Email Communications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Educates customers about the new support experience and benefits before issues arise.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$2,000–$5,000</a:t>
                      </a:r>
                      <a:endParaRPr lang="en-US" sz="1100"/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172" y="2092887"/>
            <a:ext cx="9677190" cy="257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Operations Enablement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5052355"/>
          <a:ext cx="16230601" cy="4205945"/>
        </p:xfrm>
        <a:graphic>
          <a:graphicData uri="http://schemas.openxmlformats.org/drawingml/2006/table">
            <a:tbl>
              <a:tblPr/>
              <a:tblGrid>
                <a:gridCol w="388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5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3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347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0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99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Activity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0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99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Objective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0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99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Target Audience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0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99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Marketing Channels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01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In</a:t>
                      </a:r>
                      <a:r>
                        <a:rPr lang="en-US" sz="180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tegration Catalog Launch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Mak</a:t>
                      </a:r>
                      <a:r>
                        <a:rPr lang="en-US" sz="180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e Salesforce, HubSpot, Zendesk, Shopify, Freshdesk, and Intercom self-serve to compress time-to-value to &lt;30 days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Solu</a:t>
                      </a:r>
                      <a:r>
                        <a:rPr lang="en-US" sz="180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tions Engineers (internal), RevOps and IT admins (customer-side)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Partn</a:t>
                      </a:r>
                      <a:r>
                        <a:rPr lang="en-US" sz="180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er marketplaces (Salesforce AppExchange, Shopify App Store, Zendesk Marketplace), integration landing pages, partner co-marketing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228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Live Agent Handoff Playbook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Standardize escalation rules and agent desktop deployment so customers retain CSAT after handoff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Co</a:t>
                      </a:r>
                      <a:r>
                        <a:rPr lang="en-US" sz="180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ntact center operations leaders, WFM managers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Webinars with CCaaS partners, joint solution briefs, conference workshops (Customer Contact Week, ICMI)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172" y="2092887"/>
            <a:ext cx="9511270" cy="257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Operations Enablement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5052355"/>
          <a:ext cx="16230601" cy="4205945"/>
        </p:xfrm>
        <a:graphic>
          <a:graphicData uri="http://schemas.openxmlformats.org/drawingml/2006/table">
            <a:tbl>
              <a:tblPr/>
              <a:tblGrid>
                <a:gridCol w="388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5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3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347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0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99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Activity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0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99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Objective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0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99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Target Audience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0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199" u="none" strike="noStrike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Marketing Channels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7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01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Trust, Security &amp; Compliance Launch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Unblock enterprise deals with SOC 2 Type II, EU data residency, and AI disclosure standards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CISOs, procurement, legal/privacy counsel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Trust center, security whitepapers, analyst validation reports, RFP response library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2286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Insights &amp; Performance Dashboard Launch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Provide visibility into adoption, customer sentiment, churn indicators, and service performance metrics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Product, Operations, Executive Leadership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Executive dashboards, KPI reporting cadences, operational reviews</a:t>
                      </a:r>
                      <a:endParaRPr lang="en-US" sz="1100"/>
                    </a:p>
                  </a:txBody>
                  <a:tcPr marL="57150" marR="57150" marT="57150" marB="57150" anchor="ctr">
                    <a:lnL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74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6285" y="5521851"/>
            <a:ext cx="13381902" cy="324138"/>
            <a:chOff x="0" y="0"/>
            <a:chExt cx="53899436" cy="1305560"/>
          </a:xfrm>
        </p:grpSpPr>
        <p:sp>
          <p:nvSpPr>
            <p:cNvPr id="3" name="Freeform 3"/>
            <p:cNvSpPr/>
            <p:nvPr/>
          </p:nvSpPr>
          <p:spPr>
            <a:xfrm>
              <a:off x="0" y="-56"/>
              <a:ext cx="53899755" cy="1304403"/>
            </a:xfrm>
            <a:custGeom>
              <a:avLst/>
              <a:gdLst/>
              <a:ahLst/>
              <a:cxnLst/>
              <a:rect l="l" t="t" r="r" b="b"/>
              <a:pathLst>
                <a:path w="53899755" h="1304403">
                  <a:moveTo>
                    <a:pt x="53843554" y="551236"/>
                  </a:moveTo>
                  <a:lnTo>
                    <a:pt x="53143789" y="27996"/>
                  </a:lnTo>
                  <a:cubicBezTo>
                    <a:pt x="53070125" y="-27884"/>
                    <a:pt x="53009167" y="2596"/>
                    <a:pt x="53009167" y="95306"/>
                  </a:cubicBezTo>
                  <a:lnTo>
                    <a:pt x="53009167" y="528376"/>
                  </a:lnTo>
                  <a:lnTo>
                    <a:pt x="831850" y="528376"/>
                  </a:lnTo>
                  <a:cubicBezTo>
                    <a:pt x="778510" y="354386"/>
                    <a:pt x="617220" y="227386"/>
                    <a:pt x="425450" y="227386"/>
                  </a:cubicBezTo>
                  <a:cubicBezTo>
                    <a:pt x="190500" y="227386"/>
                    <a:pt x="0" y="417886"/>
                    <a:pt x="0" y="652836"/>
                  </a:cubicBezTo>
                  <a:cubicBezTo>
                    <a:pt x="0" y="887786"/>
                    <a:pt x="190500" y="1078286"/>
                    <a:pt x="425450" y="1078286"/>
                  </a:cubicBezTo>
                  <a:cubicBezTo>
                    <a:pt x="617220" y="1078286"/>
                    <a:pt x="778510" y="951286"/>
                    <a:pt x="831850" y="777296"/>
                  </a:cubicBezTo>
                  <a:lnTo>
                    <a:pt x="53002414" y="777296"/>
                  </a:lnTo>
                  <a:lnTo>
                    <a:pt x="53002414" y="1209096"/>
                  </a:lnTo>
                  <a:cubicBezTo>
                    <a:pt x="53002414" y="1301806"/>
                    <a:pt x="53068854" y="1332286"/>
                    <a:pt x="53142517" y="1276406"/>
                  </a:cubicBezTo>
                  <a:lnTo>
                    <a:pt x="53843554" y="751896"/>
                  </a:lnTo>
                  <a:cubicBezTo>
                    <a:pt x="53918489" y="698556"/>
                    <a:pt x="53918489" y="607116"/>
                    <a:pt x="53843554" y="551236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 rot="-5400000">
            <a:off x="1632327" y="4959321"/>
            <a:ext cx="1400715" cy="1400715"/>
          </a:xfrm>
          <a:custGeom>
            <a:avLst/>
            <a:gdLst/>
            <a:ahLst/>
            <a:cxnLst/>
            <a:rect l="l" t="t" r="r" b="b"/>
            <a:pathLst>
              <a:path w="1400715" h="1400715">
                <a:moveTo>
                  <a:pt x="0" y="0"/>
                </a:moveTo>
                <a:lnTo>
                  <a:pt x="1400715" y="0"/>
                </a:lnTo>
                <a:lnTo>
                  <a:pt x="1400715" y="1400715"/>
                </a:lnTo>
                <a:lnTo>
                  <a:pt x="0" y="1400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>
            <a:off x="6321263" y="4959321"/>
            <a:ext cx="1400715" cy="1400715"/>
          </a:xfrm>
          <a:custGeom>
            <a:avLst/>
            <a:gdLst/>
            <a:ahLst/>
            <a:cxnLst/>
            <a:rect l="l" t="t" r="r" b="b"/>
            <a:pathLst>
              <a:path w="1400715" h="1400715">
                <a:moveTo>
                  <a:pt x="0" y="0"/>
                </a:moveTo>
                <a:lnTo>
                  <a:pt x="1400716" y="0"/>
                </a:lnTo>
                <a:lnTo>
                  <a:pt x="1400716" y="1400715"/>
                </a:lnTo>
                <a:lnTo>
                  <a:pt x="0" y="1400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>
            <a:off x="10978102" y="4983563"/>
            <a:ext cx="1400715" cy="1400715"/>
          </a:xfrm>
          <a:custGeom>
            <a:avLst/>
            <a:gdLst/>
            <a:ahLst/>
            <a:cxnLst/>
            <a:rect l="l" t="t" r="r" b="b"/>
            <a:pathLst>
              <a:path w="1400715" h="1400715">
                <a:moveTo>
                  <a:pt x="0" y="0"/>
                </a:moveTo>
                <a:lnTo>
                  <a:pt x="1400715" y="0"/>
                </a:lnTo>
                <a:lnTo>
                  <a:pt x="1400715" y="1400715"/>
                </a:lnTo>
                <a:lnTo>
                  <a:pt x="0" y="1400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400000">
            <a:off x="15481461" y="4959321"/>
            <a:ext cx="1400715" cy="1400715"/>
          </a:xfrm>
          <a:custGeom>
            <a:avLst/>
            <a:gdLst/>
            <a:ahLst/>
            <a:cxnLst/>
            <a:rect l="l" t="t" r="r" b="b"/>
            <a:pathLst>
              <a:path w="1400715" h="1400715">
                <a:moveTo>
                  <a:pt x="0" y="0"/>
                </a:moveTo>
                <a:lnTo>
                  <a:pt x="1400715" y="0"/>
                </a:lnTo>
                <a:lnTo>
                  <a:pt x="1400715" y="1400715"/>
                </a:lnTo>
                <a:lnTo>
                  <a:pt x="0" y="1400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941767" y="5149509"/>
            <a:ext cx="781836" cy="1020340"/>
          </a:xfrm>
          <a:custGeom>
            <a:avLst/>
            <a:gdLst/>
            <a:ahLst/>
            <a:cxnLst/>
            <a:rect l="l" t="t" r="r" b="b"/>
            <a:pathLst>
              <a:path w="781836" h="1020340">
                <a:moveTo>
                  <a:pt x="0" y="0"/>
                </a:moveTo>
                <a:lnTo>
                  <a:pt x="781835" y="0"/>
                </a:lnTo>
                <a:lnTo>
                  <a:pt x="781835" y="1020340"/>
                </a:lnTo>
                <a:lnTo>
                  <a:pt x="0" y="102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490242" y="5397311"/>
            <a:ext cx="1062757" cy="524736"/>
          </a:xfrm>
          <a:custGeom>
            <a:avLst/>
            <a:gdLst/>
            <a:ahLst/>
            <a:cxnLst/>
            <a:rect l="l" t="t" r="r" b="b"/>
            <a:pathLst>
              <a:path w="1062757" h="524736">
                <a:moveTo>
                  <a:pt x="0" y="0"/>
                </a:moveTo>
                <a:lnTo>
                  <a:pt x="1062757" y="0"/>
                </a:lnTo>
                <a:lnTo>
                  <a:pt x="1062757" y="524736"/>
                </a:lnTo>
                <a:lnTo>
                  <a:pt x="0" y="52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193692" y="5204001"/>
            <a:ext cx="969535" cy="959839"/>
          </a:xfrm>
          <a:custGeom>
            <a:avLst/>
            <a:gdLst/>
            <a:ahLst/>
            <a:cxnLst/>
            <a:rect l="l" t="t" r="r" b="b"/>
            <a:pathLst>
              <a:path w="969535" h="959839">
                <a:moveTo>
                  <a:pt x="0" y="0"/>
                </a:moveTo>
                <a:lnTo>
                  <a:pt x="969535" y="0"/>
                </a:lnTo>
                <a:lnTo>
                  <a:pt x="969535" y="959839"/>
                </a:lnTo>
                <a:lnTo>
                  <a:pt x="0" y="959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722749" y="5205774"/>
            <a:ext cx="918138" cy="907809"/>
          </a:xfrm>
          <a:custGeom>
            <a:avLst/>
            <a:gdLst/>
            <a:ahLst/>
            <a:cxnLst/>
            <a:rect l="l" t="t" r="r" b="b"/>
            <a:pathLst>
              <a:path w="918138" h="907809">
                <a:moveTo>
                  <a:pt x="0" y="0"/>
                </a:moveTo>
                <a:lnTo>
                  <a:pt x="918138" y="0"/>
                </a:lnTo>
                <a:lnTo>
                  <a:pt x="918138" y="907809"/>
                </a:lnTo>
                <a:lnTo>
                  <a:pt x="0" y="907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311523" y="6741036"/>
            <a:ext cx="2042322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7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MVP Pilot Launch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1523" y="3516084"/>
            <a:ext cx="2042322" cy="9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 b="1" spc="302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JULY 2027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3031" y="6741036"/>
            <a:ext cx="2042322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7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Pilot Optimization &amp; Stabilization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93031" y="3516084"/>
            <a:ext cx="2042322" cy="9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 b="1" spc="302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AUGUST 2027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73182" y="6741036"/>
            <a:ext cx="261055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7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Full MVP Launch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68643" y="3540326"/>
            <a:ext cx="2042322" cy="9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 b="1" spc="302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OCTOBER 2027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16978" y="6741036"/>
            <a:ext cx="2042322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spc="7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Phase 2 Expansion &amp; AI Optimization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216978" y="3516084"/>
            <a:ext cx="2042322" cy="97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 b="1" spc="302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JANUARY 2028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4343" y="1854354"/>
            <a:ext cx="12219698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Release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14507"/>
            <a:ext cx="15674819" cy="6472493"/>
            <a:chOff x="0" y="0"/>
            <a:chExt cx="1468590" cy="606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8590" cy="606414"/>
            </a:xfrm>
            <a:custGeom>
              <a:avLst/>
              <a:gdLst/>
              <a:ahLst/>
              <a:cxnLst/>
              <a:rect l="l" t="t" r="r" b="b"/>
              <a:pathLst>
                <a:path w="1468590" h="606414">
                  <a:moveTo>
                    <a:pt x="0" y="0"/>
                  </a:moveTo>
                  <a:lnTo>
                    <a:pt x="1468590" y="0"/>
                  </a:lnTo>
                  <a:lnTo>
                    <a:pt x="1468590" y="606414"/>
                  </a:lnTo>
                  <a:lnTo>
                    <a:pt x="0" y="606414"/>
                  </a:lnTo>
                  <a:close/>
                </a:path>
              </a:pathLst>
            </a:custGeom>
            <a:blipFill>
              <a:blip r:embed="rId2"/>
              <a:stretch>
                <a:fillRect t="-26696" b="-34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03172" y="1265835"/>
            <a:ext cx="12512828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861</Words>
  <Application>Microsoft Office PowerPoint</Application>
  <PresentationFormat>Custom</PresentationFormat>
  <Paragraphs>144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Rubik Bold</vt:lpstr>
      <vt:lpstr>Poppins</vt:lpstr>
      <vt:lpstr>Calibri</vt:lpstr>
      <vt:lpstr>Rubik</vt:lpstr>
      <vt:lpstr>Rubik Light</vt:lpstr>
      <vt:lpstr>Arial</vt:lpstr>
      <vt:lpstr>Agrandir</vt:lpstr>
      <vt:lpstr>Poppins Bold</vt:lpstr>
      <vt:lpstr>Agrandir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GTM Plan</dc:title>
  <cp:lastModifiedBy>Schmidt, Emily</cp:lastModifiedBy>
  <cp:revision>2</cp:revision>
  <dcterms:created xsi:type="dcterms:W3CDTF">2006-08-16T00:00:00Z</dcterms:created>
  <dcterms:modified xsi:type="dcterms:W3CDTF">2026-05-08T17:52:30Z</dcterms:modified>
  <dc:identifier>DAHJFYO1Fn4</dc:identifier>
</cp:coreProperties>
</file>